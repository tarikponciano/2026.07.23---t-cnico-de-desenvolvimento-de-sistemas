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Montserrat" panose="020B0604020202020204" charset="0"/>
      <p:regular r:id="rId27"/>
      <p:bold r:id="rId28"/>
      <p:italic r:id="rId29"/>
      <p:boldItalic r:id="rId30"/>
    </p:embeddedFont>
    <p:embeddedFont>
      <p:font typeface="Montserrat ExtraBold" panose="020B0604020202020204" charset="0"/>
      <p:bold r:id="rId31"/>
      <p:boldItalic r:id="rId32"/>
    </p:embeddedFont>
    <p:embeddedFont>
      <p:font typeface="Montserrat SemiBold" panose="020B0604020202020204" charset="0"/>
      <p:regular r:id="rId33"/>
      <p:bold r:id="rId34"/>
      <p:italic r:id="rId35"/>
      <p:boldItalic r:id="rId36"/>
    </p:embeddedFont>
    <p:embeddedFont>
      <p:font typeface="Spectral Light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ji1kAdtRJTP4jiuZwItfKhyMZP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337"/>
        <p:guide pos="5558"/>
        <p:guide pos="1304"/>
        <p:guide orient="horz" pos="1620"/>
        <p:guide orient="horz" pos="2623"/>
        <p:guide pos="4320"/>
        <p:guide pos="3118"/>
        <p:guide pos="2976"/>
        <p:guide orient="horz" pos="590"/>
        <p:guide pos="2268"/>
        <p:guide pos="3902"/>
        <p:guide orient="horz" pos="10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1145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1"/>
          <p:cNvSpPr txBox="1">
            <a:spLocks noGrp="1"/>
          </p:cNvSpPr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&amp; subtitle slide" type="secHead">
  <p:cSld name="SECTION_HEADER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2"/>
          <p:cNvSpPr txBox="1">
            <a:spLocks noGrp="1"/>
          </p:cNvSpPr>
          <p:nvPr>
            <p:ph type="title"/>
          </p:nvPr>
        </p:nvSpPr>
        <p:spPr>
          <a:xfrm>
            <a:off x="1477425" y="2095075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ubTitle" idx="1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5" name="Google Shape;15;p22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711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5322125" y="506525"/>
            <a:ext cx="3523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3"/>
          <p:cNvSpPr/>
          <p:nvPr/>
        </p:nvSpPr>
        <p:spPr>
          <a:xfrm rot="10800000">
            <a:off x="6556325" y="4516800"/>
            <a:ext cx="22896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BB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7434" y="460833"/>
            <a:ext cx="556023" cy="5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_AND_TWO_COLUMNS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4937250" y="1495850"/>
            <a:ext cx="35226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23" name="Google Shape;23;p24"/>
          <p:cNvSpPr/>
          <p:nvPr/>
        </p:nvSpPr>
        <p:spPr>
          <a:xfrm rot="-5400000">
            <a:off x="2297700" y="3573600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4"/>
          <p:cNvSpPr/>
          <p:nvPr/>
        </p:nvSpPr>
        <p:spPr>
          <a:xfrm rot="-5400000">
            <a:off x="4927200" y="3573625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4"/>
          <p:cNvSpPr/>
          <p:nvPr/>
        </p:nvSpPr>
        <p:spPr>
          <a:xfrm rot="-5400000">
            <a:off x="7556700" y="3573625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4"/>
          <p:cNvSpPr txBox="1">
            <a:spLocks noGrp="1"/>
          </p:cNvSpPr>
          <p:nvPr>
            <p:ph type="subTitle" idx="1"/>
          </p:nvPr>
        </p:nvSpPr>
        <p:spPr>
          <a:xfrm>
            <a:off x="7006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ubTitle" idx="2"/>
          </p:nvPr>
        </p:nvSpPr>
        <p:spPr>
          <a:xfrm>
            <a:off x="7006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ubTitle" idx="3"/>
          </p:nvPr>
        </p:nvSpPr>
        <p:spPr>
          <a:xfrm>
            <a:off x="33301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subTitle" idx="4"/>
          </p:nvPr>
        </p:nvSpPr>
        <p:spPr>
          <a:xfrm>
            <a:off x="33301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subTitle" idx="5"/>
          </p:nvPr>
        </p:nvSpPr>
        <p:spPr>
          <a:xfrm>
            <a:off x="59596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ubTitle" idx="6"/>
          </p:nvPr>
        </p:nvSpPr>
        <p:spPr>
          <a:xfrm>
            <a:off x="59596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/>
          <p:nvPr/>
        </p:nvSpPr>
        <p:spPr>
          <a:xfrm>
            <a:off x="2028900" y="0"/>
            <a:ext cx="5086200" cy="5143500"/>
          </a:xfrm>
          <a:prstGeom prst="parallelogram">
            <a:avLst>
              <a:gd name="adj" fmla="val 25000"/>
            </a:avLst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5"/>
          <p:cNvSpPr txBox="1">
            <a:spLocks noGrp="1"/>
          </p:cNvSpPr>
          <p:nvPr>
            <p:ph type="subTitle" idx="1"/>
          </p:nvPr>
        </p:nvSpPr>
        <p:spPr>
          <a:xfrm>
            <a:off x="3153525" y="1800750"/>
            <a:ext cx="2523300" cy="21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ubTitle" idx="2"/>
          </p:nvPr>
        </p:nvSpPr>
        <p:spPr>
          <a:xfrm>
            <a:off x="3153525" y="4011203"/>
            <a:ext cx="18945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36" name="Google Shape;3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9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>
  <p:cSld name="Title &amp; body slide 1">
    <p:bg>
      <p:bgPr>
        <a:solidFill>
          <a:srgbClr val="252525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7115100" cy="5143500"/>
          </a:xfrm>
          <a:prstGeom prst="parallelogram">
            <a:avLst>
              <a:gd name="adj" fmla="val 25000"/>
            </a:avLst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6"/>
          <p:cNvSpPr txBox="1">
            <a:spLocks noGrp="1"/>
          </p:cNvSpPr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  <a:defRPr sz="4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subTitle" idx="1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41" name="Google Shape;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slide">
  <p:cSld name="Caption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>
            <a:spLocks noGrp="1"/>
          </p:cNvSpPr>
          <p:nvPr>
            <p:ph type="title"/>
          </p:nvPr>
        </p:nvSpPr>
        <p:spPr>
          <a:xfrm>
            <a:off x="496300" y="1198875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/>
          <p:nvPr/>
        </p:nvSpPr>
        <p:spPr>
          <a:xfrm rot="10800000">
            <a:off x="561900" y="4669200"/>
            <a:ext cx="2289600" cy="92400"/>
          </a:xfrm>
          <a:prstGeom prst="rect">
            <a:avLst/>
          </a:prstGeom>
          <a:solidFill>
            <a:srgbClr val="90CC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E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7"/>
          <p:cNvSpPr txBox="1">
            <a:spLocks noGrp="1"/>
          </p:cNvSpPr>
          <p:nvPr>
            <p:ph type="subTitle" idx="1"/>
          </p:nvPr>
        </p:nvSpPr>
        <p:spPr>
          <a:xfrm>
            <a:off x="496300" y="3315875"/>
            <a:ext cx="33432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46" name="Google Shape;4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98910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l="13106" t="15680" r="3517" b="17473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1483987" y="1323568"/>
            <a:ext cx="7780154" cy="249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</a:pPr>
            <a:r>
              <a:rPr lang="pt-BR" sz="6000">
                <a:solidFill>
                  <a:srgbClr val="174584"/>
                </a:solidFill>
              </a:rPr>
              <a:t>Engenharia de Software</a:t>
            </a:r>
            <a:br>
              <a:rPr lang="pt-BR" sz="6000">
                <a:solidFill>
                  <a:srgbClr val="174584"/>
                </a:solidFill>
              </a:rPr>
            </a:br>
            <a:br>
              <a:rPr lang="pt-BR" sz="3200">
                <a:solidFill>
                  <a:srgbClr val="174584"/>
                </a:solidFill>
              </a:rPr>
            </a:br>
            <a:r>
              <a:rPr lang="pt-BR" sz="3200">
                <a:solidFill>
                  <a:srgbClr val="174584"/>
                </a:solidFill>
              </a:rPr>
              <a:t>				Tarik Ponciano</a:t>
            </a:r>
            <a:endParaRPr/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8377" y="4333164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 da Aula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1669925" y="1167329"/>
            <a:ext cx="6774667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propósito desta aula é fornecer uma compreensão sólida da Engenharia de Software, abordando seus conceitos fundamentais e seus objetivos principais.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669925" y="1167329"/>
            <a:ext cx="470674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mundo moderno depende fundamentalmente do software para funcionar.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Desde infraestruturas nacionais até produtos eletrônicos, o software está omnipresente.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engenharia de software é essencial para o funcionamento da sociedade.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" name="Google Shape;66;p3" descr="Interface gráfica do usuári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4119" y="1000125"/>
            <a:ext cx="2222262" cy="1451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97578" y="3046496"/>
            <a:ext cx="2140619" cy="1148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669925" y="1167329"/>
            <a:ext cx="4706740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sistemas de software são abstratos e intangíveis, o que os torna desafiadores de entender e alterar.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falta de restrições físicas permite um grande potencial, mas também pode levar à complexidade excessiva e custos elevados.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Não existe uma abordagem universal para a engenharia de software; diferentes tipos de software exigem diferentes técnicas.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4" descr="Uma imagem contendo Interface gráfica do usuári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4519" y="2275473"/>
            <a:ext cx="2156661" cy="1133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Causa de falhas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1669925" y="1167329"/>
            <a:ext cx="7316088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Aumento de Demanda: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Novas técnicas de engenharia de software possibilitam a construção de sistemas maiores e mais complexos.</a:t>
            </a:r>
            <a:endParaRPr/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demandas mudam: sistemas devem ser construídos e entregues mais rapidamente para acompanhar as mudanças do mercado.</a:t>
            </a:r>
            <a:endParaRPr/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Desenvolvimento profissional de software e ética na engenharia de software são fundamentais para atender a essas novas demandas.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Causa de falhas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1669925" y="1001895"/>
            <a:ext cx="7316088" cy="624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Expectativas Baixas: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 possível escrever programas computacionais sem seguir técnicas de engenharia de software.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Muitas empresas não utilizam métodos de engenharia de software em suas práticas diárias.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Resultado: software mais caro e menos confiável do que o necessário.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Solução: Educação e treinamento em engenharia de software são essenciais para superar esses problemas.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7" descr="Interface gráfica do usuário, Aplicativ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t="8588" r="-109" b="9025"/>
          <a:stretch/>
        </p:blipFill>
        <p:spPr>
          <a:xfrm>
            <a:off x="1165560" y="150394"/>
            <a:ext cx="7850613" cy="484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que é Engenharia de Software?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1669925" y="1167329"/>
            <a:ext cx="6774667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Engenharia de Software é o processo de aplicar métodos de engenharia para desenvolver software de forma organizada e eficiente.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Isso inclui desde a definição dos requisitos até a implementação, testes e manutenção do software. O objetivo é criar sistemas que atendam às necessidades dos usuários, sejam confiáveis e fáceis de manter ao longo do tempo.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da Engenharia de Software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1669925" y="1024454"/>
            <a:ext cx="67746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Entregar Software de Qualidade:</a:t>
            </a:r>
            <a:r>
              <a:rPr lang="pt-BR" sz="16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Desenvolver software que atenda aos requisitos do usuário, seja confiável, seguro e fácil de usar.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Manter Prazos e Orçamentos:</a:t>
            </a:r>
            <a:r>
              <a:rPr lang="pt-BR" sz="16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Cumprir prazos e orçamentos estabelecidos para o desenvolvimento de software, garantindo a eficiência do processo.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Melhorar a Produtividade:</a:t>
            </a:r>
            <a:r>
              <a:rPr lang="pt-BR" sz="16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Implementar métodos e técnicas que aumentem a produtividade da equipe de desenvolvimento e reduzam o tempo necessário para completar projetos.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Facilitar a Manutenção:</a:t>
            </a:r>
            <a:r>
              <a:rPr lang="pt-BR" sz="16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Criar software que seja fácil de manter e evoluir ao longo do tempo, garantindo sua relevância contínua para os usuários.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Assegurar a Satisfação do Cliente:</a:t>
            </a:r>
            <a:r>
              <a:rPr lang="pt-BR" sz="16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Garantir que o software desenvolvido atenda às expectativas e necessidades dos clientes, proporcionando uma experiência positiva de uso.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que é Software?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1669925" y="1167329"/>
            <a:ext cx="7210811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refere-se aos programas de computador, conjuntos de instruções que direcionam o funcionamento de um computador ou dispositivo eletrônico. Ele engloba desde aplicativos de uso diário, como navegadores da web e aplicativos de mídia social, até sistemas operacionais que controlam o hardware de um computador.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software descreve o que o dispositivo deve fazer e como deve fazê-lo, permitindo que os usuários realizem tarefas específicas. Ele pode ser classificado em duas categorias principais: software de sistema, que fornece a base para a operação do computador, e software de aplicativo, que realiza tarefas específicas para os usuários, como processamento de texto ou edição de fotos.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2128629" y="441869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Atributos essenciais do Software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6" y="1258403"/>
            <a:ext cx="9008645" cy="298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 de Software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1669925" y="1167329"/>
            <a:ext cx="6774667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abordagem usada na engenharia de software é, comumente, chamada de processo de software. Um processo de atividade que leva à produção de um produto de software. São quatro atividades fundamentais: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Especificação de software, em que clientes e engenheiros definem o software a ser produzido e as restrições de sua operação.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Desenvolvimento de software, em que o software é projetado e programado.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Validação de software, em que o software é verificado para garantir que é o que o cliente quer.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Evolução de software, em que o software é modificado para refletir a mudança de requisitos do cliente e do mercado.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669925" y="934217"/>
            <a:ext cx="7383900" cy="51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Heterogeneidade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Cada vez mais se requer dos sistemas que operem como sistemas distribuídos através das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redes que incluem diferentes tipos de computadores e dispositivos móveis.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Além de executar nos computadores de propósito geral, o software talvez tenha de executar em telefones móveis.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requentemente, você tem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integrar software novo com sistemas mais antigos, escritos em linguagens de programação diferentes.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 aqui é desenvolver técnicas para construir um software confiável que seja flexível o suficiente para lidar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 essa heterogeneidade.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669925" y="1167329"/>
            <a:ext cx="6774600" cy="4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Mudança de negócio e social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Negócio e sociedade estão mudando de maneira incrivelmente rápida, à medida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as economias emergentes se desenvolvem e as novas tecnologias se tornam disponíveis. Deve ser possível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alterar seu software existente e desenvolver um novo software rapidamente. Muitas técnicas tradicionais de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 consomem tempo, e a entrega de novos sistemas frequentemente é mais demorada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que o planejado. É preciso evoluir para que o tempo requerido para o software dar retorno a seus clientes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seja reduzido.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Desafios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669925" y="1167329"/>
            <a:ext cx="6774600" cy="3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Segurança e confiança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Pelo fato de o software estar presente em todos os aspectos de nossas vidas, é essencial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possamos confiar nele. Isso se torna verdade especialmente para sistemas remotos acessados através de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 página Web ou uma interface de web Service. Precisamos ter certeza de que os usuários maliciosos não</a:t>
            </a:r>
            <a:b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possam atacar nosso software e de que a proteção da informação seja mantida.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title"/>
          </p:nvPr>
        </p:nvSpPr>
        <p:spPr>
          <a:xfrm>
            <a:off x="4989888" y="601001"/>
            <a:ext cx="35226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Vamos Tentar</a:t>
            </a:r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ubTitle" idx="1"/>
          </p:nvPr>
        </p:nvSpPr>
        <p:spPr>
          <a:xfrm>
            <a:off x="264517" y="244578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Fase 1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263191" y="661737"/>
            <a:ext cx="221832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uma aplicação </a:t>
            </a:r>
            <a:r>
              <a:rPr lang="pt-BR" dirty="0"/>
              <a:t>que resolve o problema seu ou de um conhecido</a:t>
            </a:r>
            <a:endParaRPr dirty="0"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Pesquise soluções que já possam existir no mercado</a:t>
            </a:r>
            <a:endParaRPr dirty="0"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Identifique quem seria o público alvo para esse tipo de aplicação e quais seriam os casos de uso</a:t>
            </a:r>
            <a:endParaRPr dirty="0"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você faria diferente?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>
            <a:spLocks noGrp="1"/>
          </p:cNvSpPr>
          <p:nvPr>
            <p:ph type="title"/>
          </p:nvPr>
        </p:nvSpPr>
        <p:spPr>
          <a:xfrm>
            <a:off x="4989888" y="601001"/>
            <a:ext cx="35226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Vamos Tentar</a:t>
            </a:r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subTitle" idx="1"/>
          </p:nvPr>
        </p:nvSpPr>
        <p:spPr>
          <a:xfrm>
            <a:off x="264517" y="244578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Fase 1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263191" y="661737"/>
            <a:ext cx="221832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SzPts val="1400"/>
              <a:buFont typeface="Calibri"/>
              <a:buChar char="-"/>
            </a:pPr>
            <a:r>
              <a:rPr lang="pt-BR" dirty="0"/>
              <a:t>Imagine uma aplicação que resolve o problema seu ou de um conhecido</a:t>
            </a:r>
          </a:p>
          <a:p>
            <a:pPr marL="285750" lvl="0" indent="-196850">
              <a:buSzPts val="1400"/>
            </a:pPr>
            <a:endParaRPr lang="pt-BR" dirty="0"/>
          </a:p>
          <a:p>
            <a:pPr marL="285750" lvl="0" indent="-285750">
              <a:buSzPts val="1400"/>
              <a:buFont typeface="Calibri"/>
              <a:buChar char="-"/>
            </a:pPr>
            <a:r>
              <a:rPr lang="pt-BR" dirty="0"/>
              <a:t>Pesquise soluções que já possam existir no mercado</a:t>
            </a:r>
          </a:p>
          <a:p>
            <a:pPr marL="285750" lvl="0" indent="-196850">
              <a:buSzPts val="1400"/>
            </a:pPr>
            <a:endParaRPr lang="pt-BR" dirty="0"/>
          </a:p>
          <a:p>
            <a:pPr marL="285750" lvl="0" indent="-285750">
              <a:buSzPts val="1400"/>
              <a:buFont typeface="Calibri"/>
              <a:buChar char="-"/>
            </a:pPr>
            <a:r>
              <a:rPr lang="pt-BR" dirty="0"/>
              <a:t>Identifique quem seria o público alvo para esse tipo de aplicação e quais seriam os casos de uso</a:t>
            </a:r>
          </a:p>
          <a:p>
            <a:pPr marL="285750" lvl="0" indent="-196850">
              <a:buSzPts val="1400"/>
            </a:pPr>
            <a:endParaRPr lang="pt-BR" dirty="0"/>
          </a:p>
          <a:p>
            <a:pPr marL="285750" lvl="0" indent="-285750">
              <a:buSzPts val="1400"/>
              <a:buFont typeface="Calibri"/>
              <a:buChar char="-"/>
            </a:pPr>
            <a:r>
              <a:rPr lang="pt-BR" dirty="0"/>
              <a:t>O que você faria diferente?</a:t>
            </a:r>
          </a:p>
        </p:txBody>
      </p:sp>
      <p:sp>
        <p:nvSpPr>
          <p:cNvPr id="154" name="Google Shape;154;p17"/>
          <p:cNvSpPr txBox="1"/>
          <p:nvPr/>
        </p:nvSpPr>
        <p:spPr>
          <a:xfrm>
            <a:off x="3372173" y="231544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None/>
            </a:pPr>
            <a:r>
              <a:rPr lang="pt-BR" sz="1700" b="1" i="0" u="none" strike="noStrike" cap="none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rPr>
              <a:t>Fase 2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361322" y="639177"/>
            <a:ext cx="2218320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faça uma lista das funcionalidades que a aplicação deveria 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Tente desenhar como seria uma tela da sua aplicação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Escreva uma descrição de um parágrafo sobre o que se trata sua aplicação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>
            <a:spLocks noGrp="1"/>
          </p:cNvSpPr>
          <p:nvPr>
            <p:ph type="subTitle" idx="1"/>
          </p:nvPr>
        </p:nvSpPr>
        <p:spPr>
          <a:xfrm>
            <a:off x="264517" y="244578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Fase 1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263191" y="661737"/>
            <a:ext cx="221832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SzPts val="1400"/>
              <a:buFont typeface="Calibri"/>
              <a:buChar char="-"/>
            </a:pPr>
            <a:r>
              <a:rPr lang="pt-BR" dirty="0"/>
              <a:t>Imagine uma aplicação que resolve o problema seu ou de um conhecido</a:t>
            </a:r>
          </a:p>
          <a:p>
            <a:pPr marL="285750" lvl="0" indent="-196850">
              <a:buSzPts val="1400"/>
            </a:pPr>
            <a:endParaRPr lang="pt-BR" dirty="0"/>
          </a:p>
          <a:p>
            <a:pPr marL="285750" lvl="0" indent="-285750">
              <a:buSzPts val="1400"/>
              <a:buFont typeface="Calibri"/>
              <a:buChar char="-"/>
            </a:pPr>
            <a:r>
              <a:rPr lang="pt-BR" dirty="0"/>
              <a:t>Pesquise soluções que já possam existir no mercado</a:t>
            </a:r>
          </a:p>
          <a:p>
            <a:pPr marL="285750" lvl="0" indent="-196850">
              <a:buSzPts val="1400"/>
            </a:pPr>
            <a:endParaRPr lang="pt-BR" dirty="0"/>
          </a:p>
          <a:p>
            <a:pPr marL="285750" lvl="0" indent="-285750">
              <a:buSzPts val="1400"/>
              <a:buFont typeface="Calibri"/>
              <a:buChar char="-"/>
            </a:pPr>
            <a:r>
              <a:rPr lang="pt-BR" dirty="0"/>
              <a:t>Identifique quem seria o público alvo para esse tipo de aplicação e quais seriam os casos de uso</a:t>
            </a:r>
          </a:p>
          <a:p>
            <a:pPr marL="285750" lvl="0" indent="-196850">
              <a:buSzPts val="1400"/>
            </a:pPr>
            <a:endParaRPr lang="pt-BR" dirty="0"/>
          </a:p>
          <a:p>
            <a:pPr marL="285750" lvl="0" indent="-285750">
              <a:buSzPts val="1400"/>
              <a:buFont typeface="Calibri"/>
              <a:buChar char="-"/>
            </a:pPr>
            <a:r>
              <a:rPr lang="pt-BR" dirty="0"/>
              <a:t>O que você faria diferente?</a:t>
            </a:r>
          </a:p>
        </p:txBody>
      </p:sp>
      <p:sp>
        <p:nvSpPr>
          <p:cNvPr id="162" name="Google Shape;162;p18"/>
          <p:cNvSpPr txBox="1"/>
          <p:nvPr/>
        </p:nvSpPr>
        <p:spPr>
          <a:xfrm>
            <a:off x="3372173" y="231544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None/>
            </a:pPr>
            <a:r>
              <a:rPr lang="pt-BR" sz="1700" b="1" i="0" u="none" strike="noStrike" cap="none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rPr>
              <a:t>Fase 2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3361322" y="639177"/>
            <a:ext cx="2218320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faça uma lista das funcionalidades que a aplicação deveria 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Tente desenhar como seria uma tela da sua aplicação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Escreva uma descrição de um parágrafo sobre o que se trata sua aplicação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049198" y="171385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None/>
            </a:pPr>
            <a:r>
              <a:rPr lang="pt-BR" sz="1700" b="1" i="0" u="none" strike="noStrike" cap="none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rPr>
              <a:t>Fase 3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038347" y="579019"/>
            <a:ext cx="2218320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Faça dupla com o colega na cadeira oposta a sua. Mas não mostre o que você fez até agora.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Explique sua ideia e ouça a ideia do seu colega.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Tentem desenhar como seria a tela da aplicação do seu colega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Comparem os resultados e proponham melhorias.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3372173" y="56732"/>
            <a:ext cx="2218343" cy="3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None/>
            </a:pPr>
            <a:r>
              <a:rPr lang="pt-BR" sz="1700" b="1" i="0" u="none" strike="noStrike" cap="none" dirty="0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rPr>
              <a:t>Fase 4</a:t>
            </a:r>
            <a:endParaRPr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FA6E05-C47A-47AB-AD3A-493CD32669B2}"/>
              </a:ext>
            </a:extLst>
          </p:cNvPr>
          <p:cNvSpPr/>
          <p:nvPr/>
        </p:nvSpPr>
        <p:spPr>
          <a:xfrm>
            <a:off x="1627094" y="413598"/>
            <a:ext cx="7207624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Esta é a fase de consolidação. Mantenham a mesma dupla da Fase 3 e, juntos, escolham </a:t>
            </a:r>
            <a:r>
              <a:rPr lang="pt-BR" b="1" dirty="0"/>
              <a:t>um dos dois projetos</a:t>
            </a:r>
            <a:r>
              <a:rPr lang="pt-BR" dirty="0"/>
              <a:t> para desenvolver e documentar. Até o tempo limite, o objetivo é transformar as ideias em um documento organizado.</a:t>
            </a:r>
          </a:p>
          <a:p>
            <a:endParaRPr lang="pt-BR" dirty="0"/>
          </a:p>
          <a:p>
            <a:r>
              <a:rPr lang="pt-BR" b="1" dirty="0"/>
              <a:t>O que fazer:</a:t>
            </a:r>
            <a:endParaRPr lang="pt-BR" dirty="0"/>
          </a:p>
          <a:p>
            <a:r>
              <a:rPr lang="pt-BR" dirty="0"/>
              <a:t>Aproveitem o tempo restante para expandir a aplicação, pensem em novas funcionalidades que façam sentido e melhorem a experiência do usuário. Para cada funcionalidade, esbocem como seria a tela correspondente (pode ser desenho à mão, ferramenta digital ou </a:t>
            </a:r>
            <a:r>
              <a:rPr lang="pt-BR" dirty="0" err="1"/>
              <a:t>wireframe</a:t>
            </a:r>
            <a:r>
              <a:rPr lang="pt-BR" dirty="0"/>
              <a:t> simples).</a:t>
            </a:r>
          </a:p>
          <a:p>
            <a:endParaRPr lang="pt-BR" dirty="0"/>
          </a:p>
          <a:p>
            <a:r>
              <a:rPr lang="pt-BR" dirty="0"/>
              <a:t>Reúnam tudo em um único documento, contendo:</a:t>
            </a:r>
          </a:p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Nome da aplicação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Problema que ela resolve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Público-alvo e principais casos de uso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Lista de funcionalidades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Telas desenhadas para cada funcionalidade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Melhorias sugeridas pelo colega na Fase 3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Entrega:</a:t>
            </a:r>
            <a:endParaRPr lang="pt-BR" dirty="0"/>
          </a:p>
          <a:p>
            <a:r>
              <a:rPr lang="pt-BR" dirty="0"/>
              <a:t>Poste o documento finalizado no Google </a:t>
            </a:r>
            <a:r>
              <a:rPr lang="pt-BR" dirty="0" err="1"/>
              <a:t>Classroom</a:t>
            </a:r>
            <a:r>
              <a:rPr lang="pt-BR" dirty="0"/>
              <a:t> antes do fim da aula.</a:t>
            </a:r>
          </a:p>
        </p:txBody>
      </p:sp>
    </p:spTree>
    <p:extLst>
      <p:ext uri="{BB962C8B-B14F-4D97-AF65-F5344CB8AC3E}">
        <p14:creationId xmlns:p14="http://schemas.microsoft.com/office/powerpoint/2010/main" val="2174768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ctrTitle"/>
          </p:nvPr>
        </p:nvSpPr>
        <p:spPr>
          <a:xfrm>
            <a:off x="2106771" y="1852628"/>
            <a:ext cx="6135000" cy="1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400">
                <a:solidFill>
                  <a:srgbClr val="252525"/>
                </a:solidFill>
              </a:rPr>
              <a:t>Obrigado!!</a:t>
            </a:r>
            <a:endParaRPr sz="6400">
              <a:solidFill>
                <a:srgbClr val="174584"/>
              </a:solidFill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6160" y="3780429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legant Blu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1375</Words>
  <Application>Microsoft Office PowerPoint</Application>
  <PresentationFormat>Apresentação na tela (16:9)</PresentationFormat>
  <Paragraphs>155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Montserrat ExtraBold</vt:lpstr>
      <vt:lpstr>Montserrat SemiBold</vt:lpstr>
      <vt:lpstr>Montserrat</vt:lpstr>
      <vt:lpstr>Arial</vt:lpstr>
      <vt:lpstr>Calibri</vt:lpstr>
      <vt:lpstr>Times New Roman</vt:lpstr>
      <vt:lpstr>Spectral Light</vt:lpstr>
      <vt:lpstr>Elegant Blue</vt:lpstr>
      <vt:lpstr>Engenharia de Software      Tarik Ponciano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Vamos Tentar</vt:lpstr>
      <vt:lpstr>Vamos Tentar</vt:lpstr>
      <vt:lpstr>Apresentação do PowerPoint</vt:lpstr>
      <vt:lpstr>Apresentação do PowerPoint</vt:lpstr>
      <vt:lpstr>Obrigado!!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Software      Tarik Ponciano</dc:title>
  <dc:creator>Doraneide Albuquerque Fernandes</dc:creator>
  <cp:lastModifiedBy>Aluno</cp:lastModifiedBy>
  <cp:revision>2</cp:revision>
  <dcterms:modified xsi:type="dcterms:W3CDTF">2026-06-10T21:18:24Z</dcterms:modified>
</cp:coreProperties>
</file>