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</p:sldIdLst>
  <p:sldSz cy="5143500" cx="9144000"/>
  <p:notesSz cx="6858000" cy="9144000"/>
  <p:embeddedFontLst>
    <p:embeddedFont>
      <p:font typeface="Montserrat SemiBold"/>
      <p:regular r:id="rId110"/>
      <p:bold r:id="rId111"/>
      <p:italic r:id="rId112"/>
      <p:boldItalic r:id="rId113"/>
    </p:embeddedFont>
    <p:embeddedFont>
      <p:font typeface="Play"/>
      <p:regular r:id="rId114"/>
      <p:bold r:id="rId115"/>
    </p:embeddedFont>
    <p:embeddedFont>
      <p:font typeface="Montserrat"/>
      <p:regular r:id="rId116"/>
      <p:bold r:id="rId117"/>
      <p:italic r:id="rId118"/>
      <p:boldItalic r:id="rId119"/>
    </p:embeddedFont>
    <p:embeddedFont>
      <p:font typeface="Montserrat ExtraBold"/>
      <p:bold r:id="rId120"/>
      <p:boldItalic r:id="rId121"/>
    </p:embeddedFont>
    <p:embeddedFont>
      <p:font typeface="Spectral Light"/>
      <p:regular r:id="rId122"/>
      <p:bold r:id="rId123"/>
      <p:italic r:id="rId124"/>
      <p:boldItalic r:id="rId1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7">
          <p15:clr>
            <a:srgbClr val="A4A3A4"/>
          </p15:clr>
        </p15:guide>
        <p15:guide id="2" pos="5558">
          <p15:clr>
            <a:srgbClr val="A4A3A4"/>
          </p15:clr>
        </p15:guide>
        <p15:guide id="3" pos="1304">
          <p15:clr>
            <a:srgbClr val="A4A3A4"/>
          </p15:clr>
        </p15:guide>
        <p15:guide id="4" orient="horz" pos="1620">
          <p15:clr>
            <a:srgbClr val="A4A3A4"/>
          </p15:clr>
        </p15:guide>
        <p15:guide id="5" orient="horz" pos="2623">
          <p15:clr>
            <a:srgbClr val="A4A3A4"/>
          </p15:clr>
        </p15:guide>
        <p15:guide id="6" pos="4320">
          <p15:clr>
            <a:srgbClr val="A4A3A4"/>
          </p15:clr>
        </p15:guide>
        <p15:guide id="7" pos="3118">
          <p15:clr>
            <a:srgbClr val="A4A3A4"/>
          </p15:clr>
        </p15:guide>
        <p15:guide id="8" pos="2976">
          <p15:clr>
            <a:srgbClr val="A4A3A4"/>
          </p15:clr>
        </p15:guide>
        <p15:guide id="9" orient="horz" pos="590">
          <p15:clr>
            <a:srgbClr val="A4A3A4"/>
          </p15:clr>
        </p15:guide>
        <p15:guide id="10" pos="2268">
          <p15:clr>
            <a:srgbClr val="A4A3A4"/>
          </p15:clr>
        </p15:guide>
        <p15:guide id="11" pos="3902">
          <p15:clr>
            <a:srgbClr val="A4A3A4"/>
          </p15:clr>
        </p15:guide>
        <p15:guide id="12" orient="horz" pos="1058">
          <p15:clr>
            <a:srgbClr val="A4A3A4"/>
          </p15:clr>
        </p15:guide>
      </p15:sldGuideLst>
    </p:ext>
    <p:ext uri="GoogleSlidesCustomDataVersion2">
      <go:slidesCustomData xmlns:go="http://customooxmlschemas.google.com/" r:id="rId126" roundtripDataSignature="AMtx7miBqHF3aWQ64FfPKNdSwA7cqmtj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7" orient="horz"/>
        <p:guide pos="5558"/>
        <p:guide pos="1304"/>
        <p:guide pos="1620" orient="horz"/>
        <p:guide pos="2623" orient="horz"/>
        <p:guide pos="4320"/>
        <p:guide pos="3118"/>
        <p:guide pos="2976"/>
        <p:guide pos="590" orient="horz"/>
        <p:guide pos="2268"/>
        <p:guide pos="3902"/>
        <p:guide pos="105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6" Type="http://customschemas.google.com/relationships/presentationmetadata" Target="metadata"/><Relationship Id="rId26" Type="http://schemas.openxmlformats.org/officeDocument/2006/relationships/slide" Target="slides/slide21.xml"/><Relationship Id="rId121" Type="http://schemas.openxmlformats.org/officeDocument/2006/relationships/font" Target="fonts/MontserratExtraBold-boldItalic.fntdata"/><Relationship Id="rId25" Type="http://schemas.openxmlformats.org/officeDocument/2006/relationships/slide" Target="slides/slide20.xml"/><Relationship Id="rId120" Type="http://schemas.openxmlformats.org/officeDocument/2006/relationships/font" Target="fonts/MontserratExtraBold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font" Target="fonts/SpectralLight-boldItalic.fntdata"/><Relationship Id="rId29" Type="http://schemas.openxmlformats.org/officeDocument/2006/relationships/slide" Target="slides/slide24.xml"/><Relationship Id="rId124" Type="http://schemas.openxmlformats.org/officeDocument/2006/relationships/font" Target="fonts/SpectralLight-italic.fntdata"/><Relationship Id="rId123" Type="http://schemas.openxmlformats.org/officeDocument/2006/relationships/font" Target="fonts/SpectralLight-bold.fntdata"/><Relationship Id="rId122" Type="http://schemas.openxmlformats.org/officeDocument/2006/relationships/font" Target="fonts/SpectralLight-regular.fntdata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font" Target="fonts/Montserrat-italic.fntdata"/><Relationship Id="rId117" Type="http://schemas.openxmlformats.org/officeDocument/2006/relationships/font" Target="fonts/Montserrat-bold.fntdata"/><Relationship Id="rId116" Type="http://schemas.openxmlformats.org/officeDocument/2006/relationships/font" Target="fonts/Montserrat-regular.fntdata"/><Relationship Id="rId115" Type="http://schemas.openxmlformats.org/officeDocument/2006/relationships/font" Target="fonts/Play-bold.fntdata"/><Relationship Id="rId119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110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Play-regular.fntdata"/><Relationship Id="rId18" Type="http://schemas.openxmlformats.org/officeDocument/2006/relationships/slide" Target="slides/slide13.xml"/><Relationship Id="rId113" Type="http://schemas.openxmlformats.org/officeDocument/2006/relationships/font" Target="fonts/MontserratSemiBold-boldItalic.fntdata"/><Relationship Id="rId112" Type="http://schemas.openxmlformats.org/officeDocument/2006/relationships/font" Target="fonts/MontserratSemiBold-italic.fntdata"/><Relationship Id="rId111" Type="http://schemas.openxmlformats.org/officeDocument/2006/relationships/font" Target="fonts/MontserratSemiBold-bold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06"/>
          <p:cNvSpPr txBox="1"/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  <a:defRPr sz="4600">
                <a:solidFill>
                  <a:srgbClr val="2525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" name="Google Shape;10;p106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6"/>
          <p:cNvSpPr txBox="1"/>
          <p:nvPr>
            <p:ph idx="1" type="subTitle"/>
          </p:nvPr>
        </p:nvSpPr>
        <p:spPr>
          <a:xfrm rot="-5400000">
            <a:off x="-1772935" y="1844264"/>
            <a:ext cx="49506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&amp; subtitle slide" type="secHead">
  <p:cSld name="SECTION_HEADER">
    <p:bg>
      <p:bgPr>
        <a:noFill/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7"/>
          <p:cNvSpPr txBox="1"/>
          <p:nvPr>
            <p:ph type="title"/>
          </p:nvPr>
        </p:nvSpPr>
        <p:spPr>
          <a:xfrm>
            <a:off x="1477425" y="2095075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9pPr>
          </a:lstStyle>
          <a:p/>
        </p:txBody>
      </p:sp>
      <p:sp>
        <p:nvSpPr>
          <p:cNvPr id="14" name="Google Shape;14;p107"/>
          <p:cNvSpPr txBox="1"/>
          <p:nvPr>
            <p:ph idx="1" type="subTitle"/>
          </p:nvPr>
        </p:nvSpPr>
        <p:spPr>
          <a:xfrm>
            <a:off x="1477425" y="4030950"/>
            <a:ext cx="27702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sp>
        <p:nvSpPr>
          <p:cNvPr id="15" name="Google Shape;15;p107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5711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3 columns slide">
  <p:cSld name="TITLE_AND_TWO_COLUMNS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8"/>
          <p:cNvSpPr txBox="1"/>
          <p:nvPr>
            <p:ph type="title"/>
          </p:nvPr>
        </p:nvSpPr>
        <p:spPr>
          <a:xfrm>
            <a:off x="4937250" y="1495850"/>
            <a:ext cx="3522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9" name="Google Shape;19;p108"/>
          <p:cNvSpPr/>
          <p:nvPr/>
        </p:nvSpPr>
        <p:spPr>
          <a:xfrm rot="-5400000">
            <a:off x="2297700" y="3573600"/>
            <a:ext cx="17139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08"/>
          <p:cNvSpPr/>
          <p:nvPr/>
        </p:nvSpPr>
        <p:spPr>
          <a:xfrm rot="-5400000">
            <a:off x="4927200" y="3573625"/>
            <a:ext cx="17139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08"/>
          <p:cNvSpPr/>
          <p:nvPr/>
        </p:nvSpPr>
        <p:spPr>
          <a:xfrm rot="-5400000">
            <a:off x="7556700" y="3573625"/>
            <a:ext cx="17139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08"/>
          <p:cNvSpPr txBox="1"/>
          <p:nvPr>
            <p:ph idx="1" type="subTitle"/>
          </p:nvPr>
        </p:nvSpPr>
        <p:spPr>
          <a:xfrm>
            <a:off x="700662" y="2259868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3" name="Google Shape;23;p108"/>
          <p:cNvSpPr txBox="1"/>
          <p:nvPr>
            <p:ph idx="2" type="subTitle"/>
          </p:nvPr>
        </p:nvSpPr>
        <p:spPr>
          <a:xfrm>
            <a:off x="700654" y="3349745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sp>
        <p:nvSpPr>
          <p:cNvPr id="24" name="Google Shape;24;p108"/>
          <p:cNvSpPr txBox="1"/>
          <p:nvPr>
            <p:ph idx="3" type="subTitle"/>
          </p:nvPr>
        </p:nvSpPr>
        <p:spPr>
          <a:xfrm>
            <a:off x="3330162" y="2259868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5" name="Google Shape;25;p108"/>
          <p:cNvSpPr txBox="1"/>
          <p:nvPr>
            <p:ph idx="4" type="subTitle"/>
          </p:nvPr>
        </p:nvSpPr>
        <p:spPr>
          <a:xfrm>
            <a:off x="3330154" y="3349745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sp>
        <p:nvSpPr>
          <p:cNvPr id="26" name="Google Shape;26;p108"/>
          <p:cNvSpPr txBox="1"/>
          <p:nvPr>
            <p:ph idx="5" type="subTitle"/>
          </p:nvPr>
        </p:nvSpPr>
        <p:spPr>
          <a:xfrm>
            <a:off x="5959662" y="2259868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700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7" name="Google Shape;27;p108"/>
          <p:cNvSpPr txBox="1"/>
          <p:nvPr>
            <p:ph idx="6" type="subTitle"/>
          </p:nvPr>
        </p:nvSpPr>
        <p:spPr>
          <a:xfrm>
            <a:off x="5959654" y="3349745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Quot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9"/>
          <p:cNvSpPr/>
          <p:nvPr/>
        </p:nvSpPr>
        <p:spPr>
          <a:xfrm>
            <a:off x="2028900" y="0"/>
            <a:ext cx="5086200" cy="5143500"/>
          </a:xfrm>
          <a:prstGeom prst="parallelogram">
            <a:avLst>
              <a:gd fmla="val 25000" name="adj"/>
            </a:avLst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9"/>
          <p:cNvSpPr txBox="1"/>
          <p:nvPr>
            <p:ph idx="1" type="subTitle"/>
          </p:nvPr>
        </p:nvSpPr>
        <p:spPr>
          <a:xfrm>
            <a:off x="3153525" y="1800750"/>
            <a:ext cx="25233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1" name="Google Shape;31;p109"/>
          <p:cNvSpPr txBox="1"/>
          <p:nvPr>
            <p:ph idx="2" type="subTitle"/>
          </p:nvPr>
        </p:nvSpPr>
        <p:spPr>
          <a:xfrm>
            <a:off x="3153525" y="4011203"/>
            <a:ext cx="1894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pic>
        <p:nvPicPr>
          <p:cNvPr id="32" name="Google Shape;32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000" y="4545630"/>
            <a:ext cx="476544" cy="5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692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0"/>
          <p:cNvSpPr txBox="1"/>
          <p:nvPr>
            <p:ph type="title"/>
          </p:nvPr>
        </p:nvSpPr>
        <p:spPr>
          <a:xfrm>
            <a:off x="5322125" y="506525"/>
            <a:ext cx="3523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>
                <a:solidFill>
                  <a:srgbClr val="EFD67E"/>
                </a:solidFill>
              </a:defRPr>
            </a:lvl9pPr>
          </a:lstStyle>
          <a:p/>
        </p:txBody>
      </p:sp>
      <p:sp>
        <p:nvSpPr>
          <p:cNvPr id="35" name="Google Shape;35;p110"/>
          <p:cNvSpPr/>
          <p:nvPr/>
        </p:nvSpPr>
        <p:spPr>
          <a:xfrm rot="10800000">
            <a:off x="6556325" y="4516800"/>
            <a:ext cx="22896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BB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7434" y="460833"/>
            <a:ext cx="556023" cy="5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slide 1">
  <p:cSld name="Title &amp; body slide 1">
    <p:bg>
      <p:bgPr>
        <a:solidFill>
          <a:srgbClr val="252525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1"/>
          <p:cNvSpPr/>
          <p:nvPr/>
        </p:nvSpPr>
        <p:spPr>
          <a:xfrm>
            <a:off x="0" y="0"/>
            <a:ext cx="7115100" cy="5143500"/>
          </a:xfrm>
          <a:prstGeom prst="parallelogram">
            <a:avLst>
              <a:gd fmla="val 25000" name="adj"/>
            </a:avLst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11"/>
          <p:cNvSpPr txBox="1"/>
          <p:nvPr>
            <p:ph type="title"/>
          </p:nvPr>
        </p:nvSpPr>
        <p:spPr>
          <a:xfrm>
            <a:off x="1285900" y="458225"/>
            <a:ext cx="47367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  <a:defRPr b="1" sz="4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0" name="Google Shape;40;p111"/>
          <p:cNvSpPr txBox="1"/>
          <p:nvPr>
            <p:ph idx="1" type="subTitle"/>
          </p:nvPr>
        </p:nvSpPr>
        <p:spPr>
          <a:xfrm>
            <a:off x="1285900" y="2963125"/>
            <a:ext cx="3961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pic>
        <p:nvPicPr>
          <p:cNvPr id="41" name="Google Shape;41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0000" y="4545630"/>
            <a:ext cx="476544" cy="50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slide">
  <p:cSld name="Caption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2"/>
          <p:cNvSpPr txBox="1"/>
          <p:nvPr>
            <p:ph type="title"/>
          </p:nvPr>
        </p:nvSpPr>
        <p:spPr>
          <a:xfrm>
            <a:off x="496300" y="1198875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4" name="Google Shape;44;p112"/>
          <p:cNvSpPr/>
          <p:nvPr/>
        </p:nvSpPr>
        <p:spPr>
          <a:xfrm rot="10800000">
            <a:off x="561900" y="4669200"/>
            <a:ext cx="2289600" cy="92400"/>
          </a:xfrm>
          <a:prstGeom prst="rect">
            <a:avLst/>
          </a:prstGeom>
          <a:solidFill>
            <a:srgbClr val="90C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E7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12"/>
          <p:cNvSpPr txBox="1"/>
          <p:nvPr>
            <p:ph idx="1" type="subTitle"/>
          </p:nvPr>
        </p:nvSpPr>
        <p:spPr>
          <a:xfrm>
            <a:off x="496300" y="3315875"/>
            <a:ext cx="33432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  <p:pic>
        <p:nvPicPr>
          <p:cNvPr id="46" name="Google Shape;46;p1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8910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b="0" i="0" sz="3300" u="none" cap="none" strike="noStrik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7" name="Google Shape;7;p10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b="0" i="0" sz="1400" u="none" cap="none" strike="noStrik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jpg"/><Relationship Id="rId4" Type="http://schemas.openxmlformats.org/officeDocument/2006/relationships/image" Target="../media/image6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jpg"/><Relationship Id="rId4" Type="http://schemas.openxmlformats.org/officeDocument/2006/relationships/image" Target="../media/image1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jpg"/><Relationship Id="rId4" Type="http://schemas.openxmlformats.org/officeDocument/2006/relationships/image" Target="../media/image1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jpg"/><Relationship Id="rId4" Type="http://schemas.openxmlformats.org/officeDocument/2006/relationships/image" Target="../media/image1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jpg"/><Relationship Id="rId4" Type="http://schemas.openxmlformats.org/officeDocument/2006/relationships/image" Target="../media/image1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3.jpg"/><Relationship Id="rId4" Type="http://schemas.openxmlformats.org/officeDocument/2006/relationships/image" Target="../media/image8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jpg"/><Relationship Id="rId4" Type="http://schemas.openxmlformats.org/officeDocument/2006/relationships/image" Target="../media/image6.png"/><Relationship Id="rId5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4.jpg"/><Relationship Id="rId4" Type="http://schemas.openxmlformats.org/officeDocument/2006/relationships/image" Target="../media/image32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5.png"/><Relationship Id="rId4" Type="http://schemas.openxmlformats.org/officeDocument/2006/relationships/image" Target="../media/image30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Relationship Id="rId4" Type="http://schemas.openxmlformats.org/officeDocument/2006/relationships/image" Target="../media/image39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4.jpg"/><Relationship Id="rId4" Type="http://schemas.openxmlformats.org/officeDocument/2006/relationships/image" Target="../media/image37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8.jpg"/><Relationship Id="rId4" Type="http://schemas.openxmlformats.org/officeDocument/2006/relationships/image" Target="../media/image46.jpg"/><Relationship Id="rId5" Type="http://schemas.openxmlformats.org/officeDocument/2006/relationships/image" Target="../media/image6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7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9.jpg"/><Relationship Id="rId4" Type="http://schemas.openxmlformats.org/officeDocument/2006/relationships/image" Target="../media/image45.jpg"/><Relationship Id="rId5" Type="http://schemas.openxmlformats.org/officeDocument/2006/relationships/image" Target="../media/image43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3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0.png"/><Relationship Id="rId4" Type="http://schemas.openxmlformats.org/officeDocument/2006/relationships/image" Target="../media/image62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4.jpg"/><Relationship Id="rId4" Type="http://schemas.openxmlformats.org/officeDocument/2006/relationships/image" Target="../media/image7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4.jpg"/><Relationship Id="rId4" Type="http://schemas.openxmlformats.org/officeDocument/2006/relationships/image" Target="../media/image58.jpg"/><Relationship Id="rId5" Type="http://schemas.openxmlformats.org/officeDocument/2006/relationships/image" Target="../media/image5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4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0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6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7.jpg"/><Relationship Id="rId4" Type="http://schemas.openxmlformats.org/officeDocument/2006/relationships/image" Target="../media/image55.jpg"/><Relationship Id="rId5" Type="http://schemas.openxmlformats.org/officeDocument/2006/relationships/image" Target="../media/image64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6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9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0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9.png"/><Relationship Id="rId4" Type="http://schemas.openxmlformats.org/officeDocument/2006/relationships/image" Target="../media/image7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4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6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9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95.png"/><Relationship Id="rId4" Type="http://schemas.openxmlformats.org/officeDocument/2006/relationships/image" Target="../media/image8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00.png"/><Relationship Id="rId4" Type="http://schemas.openxmlformats.org/officeDocument/2006/relationships/image" Target="../media/image8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png"/><Relationship Id="rId4" Type="http://schemas.openxmlformats.org/officeDocument/2006/relationships/image" Target="../media/image9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97.png"/><Relationship Id="rId4" Type="http://schemas.openxmlformats.org/officeDocument/2006/relationships/image" Target="../media/image98.jpg"/><Relationship Id="rId5" Type="http://schemas.openxmlformats.org/officeDocument/2006/relationships/image" Target="../media/image96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5.jpg"/><Relationship Id="rId4" Type="http://schemas.openxmlformats.org/officeDocument/2006/relationships/image" Target="../media/image2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7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85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94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90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 b="17473" l="13106" r="3518" t="15681"/>
          <a:stretch/>
        </p:blipFill>
        <p:spPr>
          <a:xfrm>
            <a:off x="1198475" y="534325"/>
            <a:ext cx="7624521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/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Informações do curso e da instituição Senac.</a:t>
            </a:r>
            <a:br>
              <a:rPr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 ainda é a profissão do futuro? </a:t>
            </a:r>
            <a:br>
              <a:rPr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Instrutor: Tarik Ponciano</a:t>
            </a:r>
            <a:endParaRPr sz="2400">
              <a:solidFill>
                <a:srgbClr val="174584"/>
              </a:solidFill>
            </a:endParaRPr>
          </a:p>
        </p:txBody>
      </p:sp>
      <p:pic>
        <p:nvPicPr>
          <p:cNvPr id="53" name="Google Shape;5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8377" y="4333164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1741934" y="1475730"/>
            <a:ext cx="8035654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Apresentação do professor.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Apresentação dos alunos.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Instruções aos alunos.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Serviço Nacional de Aprendizagem Comercial.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Áreas de atuação do Senac.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Tipos de cursos do Senac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 o que é a tal da TI?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importância da TI na sociedade.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Déficit de profissionais de TI no Brasil.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Áreas de atuação, salários e carreiras em TI.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700654" y="551991"/>
            <a:ext cx="4781778" cy="6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3200">
                <a:solidFill>
                  <a:srgbClr val="252525"/>
                </a:solidFill>
              </a:rPr>
              <a:t>Quem é o Tarik?</a:t>
            </a:r>
            <a:endParaRPr sz="3200">
              <a:solidFill>
                <a:srgbClr val="174584"/>
              </a:solidFill>
            </a:endParaRPr>
          </a:p>
        </p:txBody>
      </p:sp>
      <p:sp>
        <p:nvSpPr>
          <p:cNvPr id="65" name="Google Shape;65;p3"/>
          <p:cNvSpPr txBox="1"/>
          <p:nvPr>
            <p:ph idx="1" type="subTitle"/>
          </p:nvPr>
        </p:nvSpPr>
        <p:spPr>
          <a:xfrm>
            <a:off x="700662" y="1195330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Universidade</a:t>
            </a:r>
            <a:endParaRPr/>
          </a:p>
        </p:txBody>
      </p:sp>
      <p:sp>
        <p:nvSpPr>
          <p:cNvPr id="66" name="Google Shape;66;p3"/>
          <p:cNvSpPr txBox="1"/>
          <p:nvPr>
            <p:ph idx="2" type="subTitle"/>
          </p:nvPr>
        </p:nvSpPr>
        <p:spPr>
          <a:xfrm>
            <a:off x="594026" y="2285207"/>
            <a:ext cx="2385128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Formado em Sistemas e Mídias Digitais pela Universidade Federal do Ceará em 2022.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Artigos publicados nos temas de Computação Contextual e Ensino de Computação.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Monitor de Redes de Computadores, Pesquisador de Acessibilidade e Colaborador da Empresa Júnior TGD.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 txBox="1"/>
          <p:nvPr>
            <p:ph idx="3" type="subTitle"/>
          </p:nvPr>
        </p:nvSpPr>
        <p:spPr>
          <a:xfrm>
            <a:off x="3330158" y="1166068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Desenvolvimento</a:t>
            </a:r>
            <a:endParaRPr/>
          </a:p>
        </p:txBody>
      </p:sp>
      <p:sp>
        <p:nvSpPr>
          <p:cNvPr id="68" name="Google Shape;68;p3"/>
          <p:cNvSpPr txBox="1"/>
          <p:nvPr>
            <p:ph idx="4" type="subTitle"/>
          </p:nvPr>
        </p:nvSpPr>
        <p:spPr>
          <a:xfrm>
            <a:off x="3330150" y="2255945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Desenvolvedor Front-end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Aluno SMD – Diversos projetos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Bolsista CNPQ – EasyContext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Bolsista Funcap – UFC e Governo do Estado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Celetista – UFC e Governo do Estado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 </a:t>
            </a:r>
            <a:endParaRPr/>
          </a:p>
        </p:txBody>
      </p:sp>
      <p:sp>
        <p:nvSpPr>
          <p:cNvPr id="69" name="Google Shape;69;p3"/>
          <p:cNvSpPr txBox="1"/>
          <p:nvPr>
            <p:ph idx="5" type="subTitle"/>
          </p:nvPr>
        </p:nvSpPr>
        <p:spPr>
          <a:xfrm>
            <a:off x="5959638" y="1152699"/>
            <a:ext cx="22785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Hobbies</a:t>
            </a:r>
            <a:endParaRPr/>
          </a:p>
        </p:txBody>
      </p:sp>
      <p:sp>
        <p:nvSpPr>
          <p:cNvPr id="70" name="Google Shape;70;p3"/>
          <p:cNvSpPr txBox="1"/>
          <p:nvPr>
            <p:ph idx="6" type="subTitle"/>
          </p:nvPr>
        </p:nvSpPr>
        <p:spPr>
          <a:xfrm>
            <a:off x="5959630" y="2242576"/>
            <a:ext cx="2278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Violão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Jogos (Valorant, League of Legends)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Animes, Séries, Filmes, Documentários (O que tiver no catálogo)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precisar falar comigo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741934" y="1475730"/>
            <a:ext cx="8035654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Whatsapp: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(85) 98894-2250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E-mail Institucional: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tarikponciano@ce.senac.br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E-mail pessoal: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tarikponciano@gmail.com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Linkedin: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https://www.linkedin.com/in/tarik-ponciano-963ab915b/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Discord: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Tarik#1526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/>
        </p:nvSpPr>
        <p:spPr>
          <a:xfrm>
            <a:off x="1669925" y="539626"/>
            <a:ext cx="79422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Agora é sua vez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 pra gente um pouco sobre você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1741934" y="1475730"/>
            <a:ext cx="803565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Seu nome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Idade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Ocupação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que te motivou a fazer parte desse curso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Expectativas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Experiência com programação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 conheceu o curso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Já conhecia o Senac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Pretende seguir carreira como desenvolvedor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Instruções aos alunos</a:t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1669925" y="1167329"/>
            <a:ext cx="6774667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Não pode utilizar o celular durante as aulas, caso seja urgente usar o celular, o professor vai liberar para usar o celular fora da sala.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sair da sala, precisa de permissão do professor;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for necessário uma declaração do curso, se reportar ao atendimento;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Não é permitido mudar configurações e wallpaper do computador do Senac, salvo quando autorizado pelo instrutor. 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Instruções aos alunos</a:t>
            </a:r>
            <a:endParaRPr/>
          </a:p>
        </p:txBody>
      </p:sp>
      <p:sp>
        <p:nvSpPr>
          <p:cNvPr id="94" name="Google Shape;94;p7"/>
          <p:cNvSpPr txBox="1"/>
          <p:nvPr/>
        </p:nvSpPr>
        <p:spPr>
          <a:xfrm>
            <a:off x="1669925" y="1167329"/>
            <a:ext cx="6774667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aluno do curso, pode ter acesso a biblioteca física e digital do Senac, caso precise de livros físicos, pode pegar, mas o atraso da entrega resulta em multa.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Trazer a garrafa ou recipiente para beber a água;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Instruções aos alunos</a:t>
            </a:r>
            <a:endParaRPr/>
          </a:p>
        </p:txBody>
      </p:sp>
      <p:sp>
        <p:nvSpPr>
          <p:cNvPr id="100" name="Google Shape;100;p8"/>
          <p:cNvSpPr txBox="1"/>
          <p:nvPr/>
        </p:nvSpPr>
        <p:spPr>
          <a:xfrm>
            <a:off x="1669925" y="1167329"/>
            <a:ext cx="6774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Horário de início das aulas: 18: 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h;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Horário do intervalo do curso: 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0h - 20: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Horário do fim das aulas: 21:</a:t>
            </a:r>
            <a:r>
              <a:rPr lang="pt-B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h.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Instruções aos alunos</a:t>
            </a:r>
            <a:endParaRPr/>
          </a:p>
        </p:txBody>
      </p:sp>
      <p:sp>
        <p:nvSpPr>
          <p:cNvPr id="106" name="Google Shape;106;p9"/>
          <p:cNvSpPr txBox="1"/>
          <p:nvPr/>
        </p:nvSpPr>
        <p:spPr>
          <a:xfrm>
            <a:off x="1669925" y="1167329"/>
            <a:ext cx="6774667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Não pode exceder o total de 25% das faltas por Unidade de Aprendizagem;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desistir do curso, você nunca mais fará um curso grátis no sistema S;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desistir do curso, você tira a vaga de outra pessoa que está tentando entrar;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desistir do curso, o curso pode ser extinto da unidade do Senac em vigência.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0"/>
          <p:cNvPicPr preferRelativeResize="0"/>
          <p:nvPr/>
        </p:nvPicPr>
        <p:blipFill rotWithShape="1">
          <a:blip r:embed="rId3">
            <a:alphaModFix/>
          </a:blip>
          <a:srcRect b="9641" l="1146" r="0" t="11131"/>
          <a:stretch/>
        </p:blipFill>
        <p:spPr>
          <a:xfrm>
            <a:off x="1180675" y="534325"/>
            <a:ext cx="7626956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/>
          <p:nvPr/>
        </p:nvSpPr>
        <p:spPr>
          <a:xfrm rot="-5400000">
            <a:off x="-1173125" y="279572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0"/>
          <p:cNvSpPr txBox="1"/>
          <p:nvPr>
            <p:ph type="ctrTitle"/>
          </p:nvPr>
        </p:nvSpPr>
        <p:spPr>
          <a:xfrm>
            <a:off x="1589603" y="1878699"/>
            <a:ext cx="6809100" cy="13861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4200">
                <a:solidFill>
                  <a:srgbClr val="174584"/>
                </a:solidFill>
              </a:rPr>
              <a:t>TI ainda é a profissão do futuro?</a:t>
            </a:r>
            <a:endParaRPr sz="4200">
              <a:solidFill>
                <a:srgbClr val="174584"/>
              </a:solidFill>
            </a:endParaRPr>
          </a:p>
        </p:txBody>
      </p:sp>
      <p:pic>
        <p:nvPicPr>
          <p:cNvPr id="114" name="Google Shape;11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597" y="4358418"/>
            <a:ext cx="711753" cy="738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9913" y="534325"/>
            <a:ext cx="1190588" cy="46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 o que é a tal da TI?</a:t>
            </a:r>
            <a:endParaRPr/>
          </a:p>
        </p:txBody>
      </p:sp>
      <p:sp>
        <p:nvSpPr>
          <p:cNvPr id="121" name="Google Shape;121;p11"/>
          <p:cNvSpPr txBox="1"/>
          <p:nvPr/>
        </p:nvSpPr>
        <p:spPr>
          <a:xfrm>
            <a:off x="1669925" y="1167329"/>
            <a:ext cx="6774667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Tecnologia da informação (TI), é uma área que utiliza a computação como um meio para produzir, transmitir, armazenar, aceder e usar diversas informações.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 termo se refere a uma série de soluções e atividades tecnológicas, que envolvem banco de dados, hardwares, softwares e redes (doméstica ou empresarial), usadas para lidar com as informações.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 termo para definir recursos tecnológicos e o processamento de informações. Assim, podemos incluir, softwares, hardware, tecnologias usadas nas comunicações e outros serviços relacionados".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importância da TI na sociedade</a:t>
            </a:r>
            <a:endParaRPr/>
          </a:p>
        </p:txBody>
      </p:sp>
      <p:sp>
        <p:nvSpPr>
          <p:cNvPr id="127" name="Google Shape;127;p12"/>
          <p:cNvSpPr txBox="1"/>
          <p:nvPr/>
        </p:nvSpPr>
        <p:spPr>
          <a:xfrm>
            <a:off x="1669925" y="1475730"/>
            <a:ext cx="7020212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Já imaginou a vida sem Facebook, Instagram ou WhatsApp? Deixa eu ser mais ruim, </a:t>
            </a: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vida sem internet</a:t>
            </a: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tecnologia da informação tem espaço desde o suporte nos processos, até as tomadas de decisões. 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TI viabiliza uma gestão mais assertiva e encontra soluções inovadoras. 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Além disso, a tecnologia da informação possibilita o monitoramento de dados, melhoria ao acesso das informações necessárias e acompanhamento da produtividade de uma empresa.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importância da TI na sociedade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1669925" y="1155356"/>
            <a:ext cx="8035654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benefícios da TI são, mas não se limita a: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Visão estratégica.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Reduções de custos.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Aumento de produtividade e eficiência.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Integração/Interoperabilidade.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Mais lucro.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Celeridade.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Comunicação.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Mais precisão, menos erros.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Acessibilidade.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Disponibilidade.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Interatividade.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Automatização de processos arcaicos.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Déficit de profissionais de TI no Brasil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02998" y="1294477"/>
            <a:ext cx="6879997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 detrimento do mercado extremamente efervescente, a TI se valorizou, a tal ponto, que há mais vagas do que profissionais e há vagas que ficam meses disponíveis, em busca do amiguinho da TI. </a:t>
            </a: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Algumas noticias a seguir, deixa-nos estarrecidos e preocupados com esse mercado.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Déficit de profissionais de TI deve chegar a quase 800 mil em 2025, apenas no Brasil (Notícia 1). 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Déficit de profissionais de TI pode chegar a meio milhão até 2025 (Notícia 2).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Déficit de profissionais de TI no Brasil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449720" y="1468025"/>
            <a:ext cx="7247092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Déficit de profissionais de TI chegará a 797 mil em 2025 (Notícia 3).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Falta de profissionais em TI pode chegar a 70 mil anuais, diz estudo (Notícia 4)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Falta de mão de obra em TI faz crescer aposta em curso profissionalizante (Notícia 5).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Segundo um estudo da </a:t>
            </a:r>
            <a:r>
              <a:rPr b="0" i="1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Indeed</a:t>
            </a: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mais de um terço das vagas em tecnologia fica aberta por mais de dois meses. Engenheiro de Software, Desenvolvedor Java e Desenvolvedor Android são alguns dos cargos mais difíceis de preencher, cada um com mais de 38% das vagas abertas há mais de 60 dias (Notícia 6).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Déficit de profissionais de TI no Brasil</a:t>
            </a:r>
            <a:endParaRPr/>
          </a:p>
        </p:txBody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8780" y="1311366"/>
            <a:ext cx="4815191" cy="3565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Déficit de profissionais de TI no Brasil</a:t>
            </a:r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3080" y="1410522"/>
            <a:ext cx="4735951" cy="3393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1669926" y="539626"/>
            <a:ext cx="69847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Déficit de profissionais de TI no Brasil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576534" y="1572706"/>
            <a:ext cx="7066882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Levantamento de dados sobre as vagas de TI da Associação Brasileira das Empresas de Tecnologia da Informação e Comunicação (</a:t>
            </a: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Brasscom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investimentos no estudo a seguir: </a:t>
            </a: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https://brasscom.org.br/pdfs/demanda-de-talentos-em-tic-e-estrategia-tcem/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Áreas de atuação, salários e carreiras em TI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576534" y="1115690"/>
            <a:ext cx="6873323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Há variados níveis durante a carreira de uma pessoa de TI, mas normalmente são: </a:t>
            </a: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júnior, pleno, sênior, líder de equipe e gerente técnico.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seguir, algumas das áreas de TI: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Segurança da Informação.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Suporte técnico.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Desenvolvedor de software mobile/web/desktop/embarcados.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Teste/Qualidade de software.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Administrador de redes e sistemas operacionais.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Administrador de banco de dados.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Especialista em </a:t>
            </a:r>
            <a:r>
              <a:rPr b="0" i="1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</a:t>
            </a: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Especialista em Infraestrutura.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Analista de negócios.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UI/UX.</a:t>
            </a:r>
            <a:endParaRPr/>
          </a:p>
          <a:p>
            <a:pPr indent="-342900" lvl="1" marL="10858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Gestão de software.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/>
        </p:nvSpPr>
        <p:spPr>
          <a:xfrm>
            <a:off x="1669925" y="539626"/>
            <a:ext cx="67459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Áreas de atuação, salários e carreiras em TI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691308" y="1696978"/>
            <a:ext cx="682529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salários variam de acordo com o nível e o cargo em questão, por exemplo, um desenvolvedor de software sênior tem salário maior que um suporte técnico pleno. A seguir, alguns salários de profissionais de TI e áreas: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https://www.salario.com.br/estatisticas/cargos-e-salarios-de-ti-tecnologia-da-informacao/ </a:t>
            </a:r>
            <a:endParaRPr/>
          </a:p>
          <a:p>
            <a:pPr indent="-2413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https://blog.betrybe.com/carreira/principais-areas-de-ti/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Áreas de atuação, salários e carreiras em TI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1669925" y="1562498"/>
            <a:ext cx="6551641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https://www.glassdoor.com.br/Sal%C3%A1rios/ti-sal%C3%A1rio-SRCH_KO0,2.htm</a:t>
            </a:r>
            <a:endParaRPr/>
          </a:p>
          <a:p>
            <a:pPr indent="-2413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https://www.ivoryit.com.br/quanto-ganha-um-profissional-de-ti-veja-os-salarios-das-principais-carreiras/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https://g1.globo.com/tecnologia/noticia/2022/05/07/salarios-em-ti-veja-quanto-paga-cada-carreira-na-area-segundo-consultoria.ghtml</a:t>
            </a:r>
            <a:endParaRPr/>
          </a:p>
          <a:p>
            <a:pPr indent="-2413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https://www.guiadacarreira.com.br/salarios/quanto-ganha-um-profissional-de-ti/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Dúvidas???</a:t>
            </a:r>
            <a:endParaRPr/>
          </a:p>
        </p:txBody>
      </p:sp>
      <p:pic>
        <p:nvPicPr>
          <p:cNvPr descr="homem com dúvida - Casadaptada" id="187" name="Google Shape;1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0855" y="770458"/>
            <a:ext cx="32575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/>
        </p:nvSpPr>
        <p:spPr>
          <a:xfrm>
            <a:off x="1669925" y="539626"/>
            <a:ext cx="79422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Referências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1741934" y="1619746"/>
            <a:ext cx="6727946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https://www.migalhas.com.br/depeso/342618/o-que-e-ti-tudo-que-voce-precisa-saber-sobre-o-assunto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https://www.gazetadopovo.com.br/gazz-conecta/brasil-vai-precisar-de-quase-800-mil-profissionais-de-ti-ate-2025/ Copyright © 2022, Gazeta do Povo. Todos os direitos reservados.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https://brasscom.org.br/pdfs/demanda-de-talentos-em-tic-e-estrategia-tcem/</a:t>
            </a:r>
            <a:endParaRPr/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https://blog.betrybe.com/carreira/principais-areas-de-ti/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4"/>
          <p:cNvPicPr preferRelativeResize="0"/>
          <p:nvPr/>
        </p:nvPicPr>
        <p:blipFill rotWithShape="1">
          <a:blip r:embed="rId3">
            <a:alphaModFix/>
          </a:blip>
          <a:srcRect b="17473" l="13106" r="3518" t="15681"/>
          <a:stretch/>
        </p:blipFill>
        <p:spPr>
          <a:xfrm>
            <a:off x="1198475" y="534325"/>
            <a:ext cx="7624521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 txBox="1"/>
          <p:nvPr>
            <p:ph type="ctrTitle"/>
          </p:nvPr>
        </p:nvSpPr>
        <p:spPr>
          <a:xfrm>
            <a:off x="1483987" y="1323568"/>
            <a:ext cx="7780154" cy="2496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6000">
                <a:solidFill>
                  <a:srgbClr val="174584"/>
                </a:solidFill>
              </a:rPr>
              <a:t>Inteligência Artificial na Prática</a:t>
            </a:r>
            <a:br>
              <a:rPr lang="pt-BR" sz="6000">
                <a:solidFill>
                  <a:srgbClr val="174584"/>
                </a:solidFill>
              </a:rPr>
            </a:br>
            <a:br>
              <a:rPr lang="pt-BR" sz="3200">
                <a:solidFill>
                  <a:srgbClr val="174584"/>
                </a:solidFill>
              </a:rPr>
            </a:br>
            <a:r>
              <a:rPr lang="pt-BR" sz="3200">
                <a:solidFill>
                  <a:srgbClr val="174584"/>
                </a:solidFill>
              </a:rPr>
              <a:t>				Tarik Ponciano</a:t>
            </a:r>
            <a:endParaRPr sz="3200">
              <a:solidFill>
                <a:srgbClr val="174584"/>
              </a:solidFill>
            </a:endParaRPr>
          </a:p>
        </p:txBody>
      </p:sp>
      <p:pic>
        <p:nvPicPr>
          <p:cNvPr id="200" name="Google Shape;2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1725" y="3959929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/>
          <p:nvPr/>
        </p:nvSpPr>
        <p:spPr>
          <a:xfrm>
            <a:off x="2028900" y="0"/>
            <a:ext cx="5086200" cy="5143500"/>
          </a:xfrm>
          <a:prstGeom prst="parallelogram">
            <a:avLst>
              <a:gd fmla="val 25000" name="adj"/>
            </a:avLst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5"/>
          <p:cNvSpPr txBox="1"/>
          <p:nvPr>
            <p:ph idx="1" type="subTitle"/>
          </p:nvPr>
        </p:nvSpPr>
        <p:spPr>
          <a:xfrm>
            <a:off x="3153525" y="1848350"/>
            <a:ext cx="25233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futuro começa hoje, e não amanhã</a:t>
            </a:r>
            <a:r>
              <a:rPr i="0" lang="pt-BR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.”</a:t>
            </a:r>
            <a:endParaRPr i="0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5"/>
          <p:cNvSpPr txBox="1"/>
          <p:nvPr>
            <p:ph idx="4294967295" type="body"/>
          </p:nvPr>
        </p:nvSpPr>
        <p:spPr>
          <a:xfrm>
            <a:off x="3515100" y="641150"/>
            <a:ext cx="2238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2000">
                <a:solidFill>
                  <a:srgbClr val="90CCF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“</a:t>
            </a:r>
            <a:endParaRPr sz="12000">
              <a:solidFill>
                <a:srgbClr val="90CCFA"/>
              </a:solidFill>
              <a:highlight>
                <a:srgbClr val="FFFFFF"/>
              </a:highlight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8" name="Google Shape;208;p25"/>
          <p:cNvSpPr txBox="1"/>
          <p:nvPr>
            <p:ph idx="2" type="subTitle"/>
          </p:nvPr>
        </p:nvSpPr>
        <p:spPr>
          <a:xfrm>
            <a:off x="3153525" y="4011200"/>
            <a:ext cx="22383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— Papa João Paulo II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3924578" y="506525"/>
            <a:ext cx="492134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A Evolução Humana</a:t>
            </a:r>
            <a:endParaRPr/>
          </a:p>
        </p:txBody>
      </p:sp>
      <p:pic>
        <p:nvPicPr>
          <p:cNvPr descr="Human Evolution" id="214" name="Google Shape;2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962" y="1428819"/>
            <a:ext cx="7458075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Primeira Revolução Industrial (1760-1830)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7"/>
          <p:cNvSpPr txBox="1"/>
          <p:nvPr/>
        </p:nvSpPr>
        <p:spPr>
          <a:xfrm>
            <a:off x="1669925" y="1167329"/>
            <a:ext cx="6774667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Invenção da máquina a vapor e o uso de maquinas na produção têxtil e em outros produtos.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2983" y="2217065"/>
            <a:ext cx="74485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Primeira Revolução Industrial (1760-1840)</a:t>
            </a:r>
            <a:endParaRPr/>
          </a:p>
        </p:txBody>
      </p:sp>
      <p:pic>
        <p:nvPicPr>
          <p:cNvPr descr="Primeira revolução industrial: causas, características e consequências" id="227" name="Google Shape;2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829" y="1716030"/>
            <a:ext cx="3482740" cy="1617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imeira Revolução Industrial - Brasil Escola" id="228" name="Google Shape;22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8169" y="1633034"/>
            <a:ext cx="3077757" cy="1877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Segunda Revolução Industrial (1870-1914)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1669925" y="1167329"/>
            <a:ext cx="677466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Revolução das manufaturas, surgimento de metalúrgica, siderúrgica e uso da química industrialmente, ocasionando novos métodos de produção.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5" name="Google Shape;2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9058" y="2571750"/>
            <a:ext cx="593407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Segunda Revolução Industrial (1870-1914)</a:t>
            </a:r>
            <a:endParaRPr/>
          </a:p>
        </p:txBody>
      </p:sp>
      <p:pic>
        <p:nvPicPr>
          <p:cNvPr descr="A segunda fase da Revolução Industrial e as consequências desse processo" id="241" name="Google Shape;24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572" y="1680710"/>
            <a:ext cx="2360051" cy="17820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gunda Revolução Industrial: causas e consequências - Brasil Escola" id="242" name="Google Shape;24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4533" y="1795428"/>
            <a:ext cx="3177874" cy="1853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Segunda Revolução Industrial (1870-1914)</a:t>
            </a:r>
            <a:endParaRPr/>
          </a:p>
        </p:txBody>
      </p:sp>
      <p:pic>
        <p:nvPicPr>
          <p:cNvPr descr="Segunda Revolução Industrial - Resumo Completo!" id="248" name="Google Shape;2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429" y="2128142"/>
            <a:ext cx="4167779" cy="2083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origem dos sindicatos e as revoluções industriais - Sinpro Goiás" id="249" name="Google Shape;24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5863" y="1781800"/>
            <a:ext cx="3499568" cy="2767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/>
        </p:nvSpPr>
        <p:spPr>
          <a:xfrm>
            <a:off x="1669925" y="336332"/>
            <a:ext cx="692677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Terceira Revolução Industria – Segunda metade do século XX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1669925" y="1334190"/>
            <a:ext cx="6774667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Início da automação e era da informação. Junção entre conhecimento científico e produção industrial.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" name="Google Shape;2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772" y="2571750"/>
            <a:ext cx="78390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Terceira Revolução Industrial (1950-2016)</a:t>
            </a:r>
            <a:endParaRPr/>
          </a:p>
        </p:txBody>
      </p:sp>
      <p:pic>
        <p:nvPicPr>
          <p:cNvPr descr="Terceira Revolução Industrial: contexto, consequências, países" id="262" name="Google Shape;2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04" y="1889287"/>
            <a:ext cx="3710996" cy="2473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rceira Revolução Industrial: características e consequências" id="263" name="Google Shape;26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6268" y="2202986"/>
            <a:ext cx="2516506" cy="1678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Terceira Revolução Industrial (1950-2016)</a:t>
            </a:r>
            <a:endParaRPr/>
          </a:p>
        </p:txBody>
      </p:sp>
      <p:pic>
        <p:nvPicPr>
          <p:cNvPr descr="Junior Silveira - Conheça O Inglês Da Internet | Blog Junior Silveira" id="269" name="Google Shape;2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281" y="1870932"/>
            <a:ext cx="364172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das coisas: conheça as tendências | ConectaJá" id="270" name="Google Shape;27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4996" y="2045095"/>
            <a:ext cx="3183366" cy="214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5"/>
          <p:cNvPicPr preferRelativeResize="0"/>
          <p:nvPr/>
        </p:nvPicPr>
        <p:blipFill rotWithShape="1">
          <a:blip r:embed="rId3">
            <a:alphaModFix/>
          </a:blip>
          <a:srcRect b="9641" l="1146" r="0" t="11131"/>
          <a:stretch/>
        </p:blipFill>
        <p:spPr>
          <a:xfrm>
            <a:off x="1180675" y="534325"/>
            <a:ext cx="7626956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5"/>
          <p:cNvSpPr/>
          <p:nvPr/>
        </p:nvSpPr>
        <p:spPr>
          <a:xfrm rot="-5400000">
            <a:off x="-1173125" y="279572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5"/>
          <p:cNvSpPr txBox="1"/>
          <p:nvPr>
            <p:ph type="ctrTitle"/>
          </p:nvPr>
        </p:nvSpPr>
        <p:spPr>
          <a:xfrm>
            <a:off x="1589603" y="1878699"/>
            <a:ext cx="6809100" cy="13861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4200">
                <a:solidFill>
                  <a:srgbClr val="174584"/>
                </a:solidFill>
              </a:rPr>
              <a:t>A Quarta Revolução Industrial</a:t>
            </a:r>
            <a:endParaRPr sz="4200">
              <a:solidFill>
                <a:srgbClr val="174584"/>
              </a:solidFill>
            </a:endParaRPr>
          </a:p>
        </p:txBody>
      </p:sp>
      <p:pic>
        <p:nvPicPr>
          <p:cNvPr id="278" name="Google Shape;27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597" y="4358418"/>
            <a:ext cx="711753" cy="738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9913" y="534325"/>
            <a:ext cx="1190588" cy="46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Características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36"/>
          <p:cNvSpPr txBox="1"/>
          <p:nvPr/>
        </p:nvSpPr>
        <p:spPr>
          <a:xfrm>
            <a:off x="1669925" y="1294477"/>
            <a:ext cx="6774667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das Coisas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Automação total de linhas de produção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Automação de Atendimento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Inteligência Artificial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Nanotecnologia, Biotecnologia, etc...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937" y="839416"/>
            <a:ext cx="7629525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Fatores identificados pelo Forum Econômico Mundial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8"/>
          <p:cNvSpPr txBox="1"/>
          <p:nvPr/>
        </p:nvSpPr>
        <p:spPr>
          <a:xfrm>
            <a:off x="1669925" y="1187686"/>
            <a:ext cx="6774667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Velocidade –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mundo está mais conectado e esta revolução está transformando tudo de forma mais rápida do que as outras três revoluções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Alcance –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impacto se distribui para todas as regiões do mundo de modo quase uniforme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Impacto em Sistemas Interconectados – </a:t>
            </a: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avanços da Quarta Revolução Industrial são tão sofisticados e interconectados que estão transformando os principais sistemas da nossa sociedade (por exemplo, política e economia), assim como países.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904" y="423862"/>
            <a:ext cx="7477125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que está acontecendo e o que vai acontecer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1669925" y="1187686"/>
            <a:ext cx="6774667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bilhões de pessoas em 2017 estiveram conectadas a internet.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Crianças nascidas em 2017 talvez nunca dirijam carros e usem robôs para tarefas cotidianas.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e compartilhamento de dados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 como nos relacionamo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8508" y="774236"/>
            <a:ext cx="7350682" cy="4135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impacto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1669925" y="1187686"/>
            <a:ext cx="6774667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Japão existem hotéis onde a operação é feita por robôs.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milhões de vagas substituídas por robôs ou automatização.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 5 anos 35% das características de trabalho que são importantes hoje já não serão requisitos para emprego.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forma como vamos nos atualizar.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Carros Autônomos.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487" y="385762"/>
            <a:ext cx="5915025" cy="43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4"/>
          <p:cNvSpPr txBox="1"/>
          <p:nvPr/>
        </p:nvSpPr>
        <p:spPr>
          <a:xfrm>
            <a:off x="1669925" y="539626"/>
            <a:ext cx="49311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Profissões que podem acabar ou que sofrerão impactos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44"/>
          <p:cNvSpPr txBox="1"/>
          <p:nvPr/>
        </p:nvSpPr>
        <p:spPr>
          <a:xfrm>
            <a:off x="1669925" y="1514734"/>
            <a:ext cx="6774667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Jornalista e Repórter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Carteiro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Trabalhador de área rural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Leitor de Medidores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Agente de viagens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Pessoas da área de atendimento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Pessoas da área fiscal e contábil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Pessoas do setor operário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5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Quarta Revolução Industrial (Atualidade) </a:t>
            </a:r>
            <a:endParaRPr/>
          </a:p>
        </p:txBody>
      </p:sp>
      <p:pic>
        <p:nvPicPr>
          <p:cNvPr id="335" name="Google Shape;335;p45" title="Quarta Revolução Industrial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" y="29771"/>
            <a:ext cx="8154345" cy="460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6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Quarta Revolução Industrial </a:t>
            </a:r>
            <a:endParaRPr/>
          </a:p>
        </p:txBody>
      </p:sp>
      <p:pic>
        <p:nvPicPr>
          <p:cNvPr descr="Saiba o que a robô Sophia pensa sobre trabalho, sustentabilidade e  imigração - Época Negócios | Tecnologia" id="341" name="Google Shape;34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46" y="1922241"/>
            <a:ext cx="3100112" cy="21500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tá na hora de uma Grande Redefinição, diz fundador e presidente do Fórum  Econômico Mundial - Jornal O Globo" id="342" name="Google Shape;34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5466" y="1827173"/>
            <a:ext cx="3739832" cy="2245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7"/>
          <p:cNvSpPr txBox="1"/>
          <p:nvPr>
            <p:ph type="title"/>
          </p:nvPr>
        </p:nvSpPr>
        <p:spPr>
          <a:xfrm>
            <a:off x="1032270" y="798622"/>
            <a:ext cx="5368529" cy="26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42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 Quinta Revolução vem aí</a:t>
            </a:r>
            <a:endParaRPr sz="4200">
              <a:solidFill>
                <a:srgbClr val="90CCF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Quinta Revolução Industrial (Gostinho) </a:t>
            </a:r>
            <a:endParaRPr/>
          </a:p>
        </p:txBody>
      </p:sp>
      <p:pic>
        <p:nvPicPr>
          <p:cNvPr descr="31 melhores ferramentas de software de redação de IA em 2023 [gratuito e  pago]" id="353" name="Google Shape;3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329" y="2089101"/>
            <a:ext cx="3757242" cy="2186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5 melhores ferramentas de design de IA 2023 [designers de arte, gráficos e  web]" id="354" name="Google Shape;35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5746" y="2187236"/>
            <a:ext cx="3451010" cy="2008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Quinta Revolução Industrial (Gostinho) </a:t>
            </a:r>
            <a:endParaRPr/>
          </a:p>
        </p:txBody>
      </p:sp>
      <p:pic>
        <p:nvPicPr>
          <p:cNvPr descr="120 ferramentas de inteligência artificial para ir (muito) além do ..." id="360" name="Google Shape;36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488" y="1021191"/>
            <a:ext cx="2832936" cy="368179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9"/>
          <p:cNvSpPr/>
          <p:nvPr/>
        </p:nvSpPr>
        <p:spPr>
          <a:xfrm>
            <a:off x="4572000" y="2571750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https://sistemasdeinformacao.espm.edu.br/wp-content/uploads/2023/08/1691057157265-788x1024.jpg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Quinta Revolução Industrial (Gostinho) </a:t>
            </a:r>
            <a:endParaRPr/>
          </a:p>
        </p:txBody>
      </p:sp>
      <p:pic>
        <p:nvPicPr>
          <p:cNvPr descr="Experiments with MidJourney and My Writing | Loridian's Laboratory" id="367" name="Google Shape;3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703" y="1764139"/>
            <a:ext cx="2438261" cy="243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2747" y="1837559"/>
            <a:ext cx="3437134" cy="2291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1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Quinta Revolução Industrial (Gostinho) </a:t>
            </a:r>
            <a:endParaRPr/>
          </a:p>
        </p:txBody>
      </p:sp>
      <p:pic>
        <p:nvPicPr>
          <p:cNvPr descr="Criador de deepfakes de Tom Cruise no TikTok conta como criou vídeos –  Tecnoblog" id="374" name="Google Shape;37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351" y="2196050"/>
            <a:ext cx="3511789" cy="1974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1" title="TRUMP AND BIDEN PLAYING MINECRAFT (AI voices)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1530" y="1802334"/>
            <a:ext cx="1435100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Quinta Revolução Industrial (Gostinho) </a:t>
            </a:r>
            <a:endParaRPr/>
          </a:p>
        </p:txBody>
      </p:sp>
      <p:pic>
        <p:nvPicPr>
          <p:cNvPr id="381" name="Google Shape;381;p52" title="AI Freddie Mercury - Rolling in the Deep (HQ Audio)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175" y="1854200"/>
            <a:ext cx="2540000" cy="14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2"/>
          <p:cNvSpPr txBox="1"/>
          <p:nvPr/>
        </p:nvSpPr>
        <p:spPr>
          <a:xfrm>
            <a:off x="912731" y="3289300"/>
            <a:ext cx="304688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https://youtu.be/DHhCx9fqBZk?t=4</a:t>
            </a:r>
            <a:endParaRPr/>
          </a:p>
        </p:txBody>
      </p:sp>
      <p:sp>
        <p:nvSpPr>
          <p:cNvPr id="383" name="Google Shape;383;p52"/>
          <p:cNvSpPr txBox="1"/>
          <p:nvPr/>
        </p:nvSpPr>
        <p:spPr>
          <a:xfrm>
            <a:off x="3959618" y="4211580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https://www.youtube.com/shorts/Wri2CEoR2e0</a:t>
            </a:r>
            <a:endParaRPr/>
          </a:p>
        </p:txBody>
      </p:sp>
      <p:pic>
        <p:nvPicPr>
          <p:cNvPr id="384" name="Google Shape;384;p52" title="LULA E BOLSONARO CANTANDO A NOVINHA SENTA PAMPAM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3179" y="1671580"/>
            <a:ext cx="1435100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3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Quinta Revolução Industrial (Gostinho) </a:t>
            </a:r>
            <a:endParaRPr/>
          </a:p>
        </p:txBody>
      </p:sp>
      <p:pic>
        <p:nvPicPr>
          <p:cNvPr descr="Wolf - Wikipedia" id="390" name="Google Shape;39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072" y="1936568"/>
            <a:ext cx="3047397" cy="235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y wolf | Size, Habitat, Diet, Predators, &amp; Facts | Britannica" id="391" name="Google Shape;39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4156" y="2135202"/>
            <a:ext cx="3262301" cy="2160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30 Cutest Dog Breeds - Most Adorable Dogs and Puppies" id="392" name="Google Shape;39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96144" y="2269001"/>
            <a:ext cx="1897716" cy="1893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4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Quinta Revolução Industrial (Gostinho) </a:t>
            </a:r>
            <a:endParaRPr/>
          </a:p>
        </p:txBody>
      </p:sp>
      <p:pic>
        <p:nvPicPr>
          <p:cNvPr descr="Dogs in Snow: 32 Pups Winning at Winter - Great Pet Living" id="398" name="Google Shape;39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0752" y="1726982"/>
            <a:ext cx="2182495" cy="2909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5"/>
          <p:cNvSpPr txBox="1"/>
          <p:nvPr>
            <p:ph type="title"/>
          </p:nvPr>
        </p:nvSpPr>
        <p:spPr>
          <a:xfrm>
            <a:off x="3257134" y="506525"/>
            <a:ext cx="55887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/>
              <a:t>Quinta Revolução Industrial (Gostinho) </a:t>
            </a:r>
            <a:endParaRPr/>
          </a:p>
        </p:txBody>
      </p:sp>
      <p:pic>
        <p:nvPicPr>
          <p:cNvPr id="404" name="Google Shape;40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1355" y="1676719"/>
            <a:ext cx="4368264" cy="3333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6"/>
          <p:cNvSpPr txBox="1"/>
          <p:nvPr>
            <p:ph type="title"/>
          </p:nvPr>
        </p:nvSpPr>
        <p:spPr>
          <a:xfrm>
            <a:off x="1032270" y="798622"/>
            <a:ext cx="5368529" cy="26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42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Como chegamos aquí?</a:t>
            </a:r>
            <a:endParaRPr sz="4200">
              <a:solidFill>
                <a:srgbClr val="90CCF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7"/>
          <p:cNvSpPr txBox="1"/>
          <p:nvPr>
            <p:ph type="title"/>
          </p:nvPr>
        </p:nvSpPr>
        <p:spPr>
          <a:xfrm>
            <a:off x="1477425" y="0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>
                <a:solidFill>
                  <a:srgbClr val="373334"/>
                </a:solidFill>
              </a:rPr>
              <a:t>Nos filmes</a:t>
            </a:r>
            <a:endParaRPr>
              <a:solidFill>
                <a:srgbClr val="373334"/>
              </a:solidFill>
            </a:endParaRPr>
          </a:p>
        </p:txBody>
      </p:sp>
      <p:pic>
        <p:nvPicPr>
          <p:cNvPr descr="Bicentennial Man (1999) - IMDb" id="415" name="Google Shape;4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9725" y="1358887"/>
            <a:ext cx="3190387" cy="1794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.I. Artificial Intelligence movie review (2001) | Roger Ebert" id="416" name="Google Shape;41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9543" y="1917427"/>
            <a:ext cx="2004733" cy="1308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15 AI and Robotics Movies Showcasing Our Future Ahead" id="417" name="Google Shape;417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1228" y="3484481"/>
            <a:ext cx="2462873" cy="1385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8"/>
          <p:cNvSpPr txBox="1"/>
          <p:nvPr>
            <p:ph type="title"/>
          </p:nvPr>
        </p:nvSpPr>
        <p:spPr>
          <a:xfrm>
            <a:off x="1477425" y="0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>
                <a:solidFill>
                  <a:srgbClr val="373334"/>
                </a:solidFill>
              </a:rPr>
              <a:t>Expectativa</a:t>
            </a:r>
            <a:endParaRPr>
              <a:solidFill>
                <a:srgbClr val="373334"/>
              </a:solidFill>
            </a:endParaRPr>
          </a:p>
        </p:txBody>
      </p:sp>
      <p:pic>
        <p:nvPicPr>
          <p:cNvPr descr="Boston Dynamics' latest Atlas robot struts its stuff" id="423" name="Google Shape;42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864" y="1902219"/>
            <a:ext cx="4589634" cy="2583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9"/>
          <p:cNvSpPr txBox="1"/>
          <p:nvPr>
            <p:ph type="title"/>
          </p:nvPr>
        </p:nvSpPr>
        <p:spPr>
          <a:xfrm>
            <a:off x="1477425" y="0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Realidade</a:t>
            </a:r>
            <a:br>
              <a:rPr lang="pt-BR"/>
            </a:br>
            <a:r>
              <a:rPr lang="pt-BR" sz="1800"/>
              <a:t>Você conhece algum desses?</a:t>
            </a:r>
            <a:endParaRPr sz="1800">
              <a:solidFill>
                <a:srgbClr val="373334"/>
              </a:solidFill>
            </a:endParaRPr>
          </a:p>
        </p:txBody>
      </p:sp>
      <p:pic>
        <p:nvPicPr>
          <p:cNvPr descr="Download do Akinator the Genie para Android" id="429" name="Google Shape;42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0325" y="2344819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mbra do Robô Ed? 'ChatGPT brasileiro' foi criado há quase 20 anos |  Internet | TechTudo" id="430" name="Google Shape;430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9725" y="1279765"/>
            <a:ext cx="3045273" cy="337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"/>
          <p:cNvSpPr txBox="1"/>
          <p:nvPr>
            <p:ph type="title"/>
          </p:nvPr>
        </p:nvSpPr>
        <p:spPr>
          <a:xfrm>
            <a:off x="1477425" y="0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Realidade</a:t>
            </a:r>
            <a:br>
              <a:rPr lang="pt-BR"/>
            </a:br>
            <a:endParaRPr sz="1800">
              <a:solidFill>
                <a:srgbClr val="373334"/>
              </a:solidFill>
            </a:endParaRPr>
          </a:p>
        </p:txBody>
      </p:sp>
      <p:pic>
        <p:nvPicPr>
          <p:cNvPr descr="Alexa 3 - Echo Dot Smart Speaker Bluetooth - Itutecnologia.com.br| O melhor  preço e segurança pra você" id="436" name="Google Shape;43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984" y="1648590"/>
            <a:ext cx="2042649" cy="20517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o usar o Google Assistente no Windows e macOS | Tekimobile" id="437" name="Google Shape;43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1369" y="1502221"/>
            <a:ext cx="3523163" cy="2344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 txBox="1"/>
          <p:nvPr>
            <p:ph idx="1" type="subTitle"/>
          </p:nvPr>
        </p:nvSpPr>
        <p:spPr>
          <a:xfrm>
            <a:off x="496300" y="2923410"/>
            <a:ext cx="3343200" cy="1465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As ferramentas modernas se comportam como assistentes. Elas escutam nossas instruções e executam a tarefa com base em seu “banco de memória”.</a:t>
            </a:r>
            <a:endParaRPr/>
          </a:p>
        </p:txBody>
      </p:sp>
      <p:pic>
        <p:nvPicPr>
          <p:cNvPr id="443" name="Google Shape;443;p61"/>
          <p:cNvPicPr preferRelativeResize="0"/>
          <p:nvPr/>
        </p:nvPicPr>
        <p:blipFill rotWithShape="1">
          <a:blip r:embed="rId3">
            <a:alphaModFix/>
          </a:blip>
          <a:srcRect b="14843" l="49748" r="0" t="14843"/>
          <a:stretch/>
        </p:blipFill>
        <p:spPr>
          <a:xfrm>
            <a:off x="7028164" y="2571750"/>
            <a:ext cx="2092786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61"/>
          <p:cNvSpPr txBox="1"/>
          <p:nvPr>
            <p:ph type="title"/>
          </p:nvPr>
        </p:nvSpPr>
        <p:spPr>
          <a:xfrm>
            <a:off x="496300" y="233606"/>
            <a:ext cx="3101230" cy="178009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 sz="3200"/>
              <a:t>As Novas Ferramentas de IA</a:t>
            </a:r>
            <a:endParaRPr sz="3200"/>
          </a:p>
        </p:txBody>
      </p:sp>
      <p:pic>
        <p:nvPicPr>
          <p:cNvPr descr="Who Owns Chat GPT &amp; Created it - MLYearning" id="445" name="Google Shape;44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8950" y="0"/>
            <a:ext cx="45720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refly | Como funciona a IA geradora de imagens da Adobe - Canaltech" id="446" name="Google Shape;446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8949" y="2571750"/>
            <a:ext cx="456882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5502" y="658731"/>
            <a:ext cx="2332996" cy="4146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3"/>
          <p:cNvSpPr txBox="1"/>
          <p:nvPr/>
        </p:nvSpPr>
        <p:spPr>
          <a:xfrm>
            <a:off x="2779910" y="4071038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https://www.youtube.com/watch?v=S7xTBa93TX8</a:t>
            </a:r>
            <a:endParaRPr/>
          </a:p>
        </p:txBody>
      </p:sp>
      <p:pic>
        <p:nvPicPr>
          <p:cNvPr id="457" name="Google Shape;457;p63" title="Introducing Microsoft 365 Copilot | Your Copilot for Work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7786" y="1296280"/>
            <a:ext cx="4514938" cy="2550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4"/>
          <p:cNvSpPr txBox="1"/>
          <p:nvPr/>
        </p:nvSpPr>
        <p:spPr>
          <a:xfrm>
            <a:off x="2779910" y="4071038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https://www.youtube.com/watch?v=fzoZ_f7ji5Q</a:t>
            </a:r>
            <a:endParaRPr/>
          </a:p>
        </p:txBody>
      </p:sp>
      <p:pic>
        <p:nvPicPr>
          <p:cNvPr id="463" name="Google Shape;463;p64" title="Microsoft 365 Copilot in PowerPoin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6822" y="1308911"/>
            <a:ext cx="4470226" cy="2525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5"/>
          <p:cNvSpPr txBox="1"/>
          <p:nvPr/>
        </p:nvSpPr>
        <p:spPr>
          <a:xfrm>
            <a:off x="2779910" y="4071038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https://www.youtube.com/watch?v=4RfD5JiXt3A</a:t>
            </a:r>
            <a:endParaRPr/>
          </a:p>
        </p:txBody>
      </p:sp>
      <p:pic>
        <p:nvPicPr>
          <p:cNvPr id="469" name="Google Shape;469;p65" title="GitHub Copilot X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1927" y="858482"/>
            <a:ext cx="5107966" cy="288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vin AI: O 1º Engenheiro de Software baseado em GenAI (OUTRO HYPE?) -  YouTube" id="474" name="Google Shape;47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1638" y="1005651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vin: The World's First Ever AI Software Engineer" id="475" name="Google Shape;475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9964" y="1129476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et Devin: The World's First AI Software Engineer. | by Kristiyan Velkov |  Mar, 2024 | Medium" id="476" name="Google Shape;476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1293" y="3232974"/>
            <a:ext cx="2924175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7"/>
          <p:cNvSpPr txBox="1"/>
          <p:nvPr/>
        </p:nvSpPr>
        <p:spPr>
          <a:xfrm>
            <a:off x="2779909" y="4071038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https://www.youtube.com/watch?v=fjHtjT7GO1c</a:t>
            </a:r>
            <a:endParaRPr/>
          </a:p>
        </p:txBody>
      </p:sp>
      <p:pic>
        <p:nvPicPr>
          <p:cNvPr id="482" name="Google Shape;482;p67" title="Introducing Devin, the first AI software engineer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5776" y="764685"/>
            <a:ext cx="5640267" cy="3186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8"/>
          <p:cNvSpPr txBox="1"/>
          <p:nvPr/>
        </p:nvSpPr>
        <p:spPr>
          <a:xfrm>
            <a:off x="2779909" y="4071038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https://www.youtube.com/watch?v=Sq1QZB5baNw</a:t>
            </a:r>
            <a:endParaRPr/>
          </a:p>
        </p:txBody>
      </p:sp>
      <p:pic>
        <p:nvPicPr>
          <p:cNvPr id="488" name="Google Shape;488;p68" title="Figure Status Update - OpenAI Speech-to-Speech Reasoni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2233" y="764685"/>
            <a:ext cx="4907351" cy="2772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9"/>
          <p:cNvSpPr txBox="1"/>
          <p:nvPr>
            <p:ph idx="1" type="subTitle"/>
          </p:nvPr>
        </p:nvSpPr>
        <p:spPr>
          <a:xfrm>
            <a:off x="496300" y="1344356"/>
            <a:ext cx="33432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400"/>
              <a:t>O Chat GPT é um programa de computador que usa inteligência artificial para conversar com as pessoas. Ele foi treinado em muitos textos diferentes para aprender como responder a perguntas e fornecer informações úteis. Você pode fazer perguntas para o Chat GPT e ele tentará responder da melhor forma possível, mas é importante lembrar que ele não possui conhecimento real além do que aprendeu dos textos e não é uma pessoa de verdade.</a:t>
            </a:r>
            <a:endParaRPr/>
          </a:p>
        </p:txBody>
      </p:sp>
      <p:sp>
        <p:nvSpPr>
          <p:cNvPr id="494" name="Google Shape;494;p69"/>
          <p:cNvSpPr txBox="1"/>
          <p:nvPr>
            <p:ph type="title"/>
          </p:nvPr>
        </p:nvSpPr>
        <p:spPr>
          <a:xfrm>
            <a:off x="496300" y="-1024800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 sz="3200"/>
              <a:t>O que é ChatGPT</a:t>
            </a:r>
            <a:endParaRPr sz="3200"/>
          </a:p>
        </p:txBody>
      </p:sp>
      <p:pic>
        <p:nvPicPr>
          <p:cNvPr descr="ChatGPT: ferramenta que produz conteúdos é desafio ético para jovens | VEJA  RIO" id="495" name="Google Shape;49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2108" y="1344356"/>
            <a:ext cx="4055592" cy="2704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0"/>
          <p:cNvSpPr txBox="1"/>
          <p:nvPr>
            <p:ph type="title"/>
          </p:nvPr>
        </p:nvSpPr>
        <p:spPr>
          <a:xfrm>
            <a:off x="496300" y="-1024800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 sz="3200"/>
              <a:t>O que é ChatGPT</a:t>
            </a:r>
            <a:endParaRPr sz="3200"/>
          </a:p>
        </p:txBody>
      </p:sp>
      <p:pic>
        <p:nvPicPr>
          <p:cNvPr id="501" name="Google Shape;50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3269" y="1024800"/>
            <a:ext cx="4537291" cy="356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1"/>
          <p:cNvSpPr txBox="1"/>
          <p:nvPr>
            <p:ph type="title"/>
          </p:nvPr>
        </p:nvSpPr>
        <p:spPr>
          <a:xfrm>
            <a:off x="496300" y="-1024800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 sz="3200"/>
              <a:t>O que é ChatGPT</a:t>
            </a:r>
            <a:endParaRPr sz="3200"/>
          </a:p>
        </p:txBody>
      </p:sp>
      <p:pic>
        <p:nvPicPr>
          <p:cNvPr id="507" name="Google Shape;50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0" y="1306002"/>
            <a:ext cx="697230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2"/>
          <p:cNvSpPr txBox="1"/>
          <p:nvPr>
            <p:ph type="title"/>
          </p:nvPr>
        </p:nvSpPr>
        <p:spPr>
          <a:xfrm>
            <a:off x="496300" y="-1024800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 sz="3200"/>
              <a:t>Como posso usar?</a:t>
            </a:r>
            <a:endParaRPr sz="3200"/>
          </a:p>
        </p:txBody>
      </p:sp>
      <p:pic>
        <p:nvPicPr>
          <p:cNvPr id="513" name="Google Shape;51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8286" y="1132223"/>
            <a:ext cx="6606908" cy="3442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3"/>
          <p:cNvSpPr txBox="1"/>
          <p:nvPr>
            <p:ph type="title"/>
          </p:nvPr>
        </p:nvSpPr>
        <p:spPr>
          <a:xfrm>
            <a:off x="496300" y="-1024800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 sz="3200"/>
              <a:t>Como posso usar?</a:t>
            </a:r>
            <a:endParaRPr sz="3200"/>
          </a:p>
        </p:txBody>
      </p:sp>
      <p:pic>
        <p:nvPicPr>
          <p:cNvPr id="519" name="Google Shape;51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858" y="1282433"/>
            <a:ext cx="5016000" cy="3099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4"/>
          <p:cNvSpPr txBox="1"/>
          <p:nvPr>
            <p:ph type="title"/>
          </p:nvPr>
        </p:nvSpPr>
        <p:spPr>
          <a:xfrm>
            <a:off x="496300" y="-1024800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 sz="3200"/>
              <a:t>Como posso usar?</a:t>
            </a:r>
            <a:endParaRPr sz="3200"/>
          </a:p>
        </p:txBody>
      </p:sp>
      <p:pic>
        <p:nvPicPr>
          <p:cNvPr id="525" name="Google Shape;52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2785" y="1126006"/>
            <a:ext cx="4638430" cy="331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5"/>
          <p:cNvSpPr txBox="1"/>
          <p:nvPr>
            <p:ph type="title"/>
          </p:nvPr>
        </p:nvSpPr>
        <p:spPr>
          <a:xfrm>
            <a:off x="496300" y="-1024800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 sz="3200"/>
              <a:t>Como posso usar?</a:t>
            </a:r>
            <a:endParaRPr sz="3200"/>
          </a:p>
        </p:txBody>
      </p:sp>
      <p:pic>
        <p:nvPicPr>
          <p:cNvPr id="531" name="Google Shape;53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025" y="1107077"/>
            <a:ext cx="4251627" cy="3194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2235" y="1925059"/>
            <a:ext cx="4192709" cy="1105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6"/>
          <p:cNvSpPr txBox="1"/>
          <p:nvPr>
            <p:ph type="title"/>
          </p:nvPr>
        </p:nvSpPr>
        <p:spPr>
          <a:xfrm>
            <a:off x="496300" y="-1024800"/>
            <a:ext cx="5016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pt-BR" sz="3200"/>
              <a:t>Como posso usar?</a:t>
            </a:r>
            <a:endParaRPr sz="3200"/>
          </a:p>
        </p:txBody>
      </p:sp>
      <p:sp>
        <p:nvSpPr>
          <p:cNvPr id="538" name="Google Shape;538;p76"/>
          <p:cNvSpPr txBox="1"/>
          <p:nvPr/>
        </p:nvSpPr>
        <p:spPr>
          <a:xfrm>
            <a:off x="2719005" y="967089"/>
            <a:ext cx="3705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chat.openai.com/</a:t>
            </a:r>
            <a:endParaRPr/>
          </a:p>
        </p:txBody>
      </p:sp>
      <p:pic>
        <p:nvPicPr>
          <p:cNvPr id="539" name="Google Shape;53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494" y="1781753"/>
            <a:ext cx="3100665" cy="2741092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76"/>
          <p:cNvSpPr/>
          <p:nvPr/>
        </p:nvSpPr>
        <p:spPr>
          <a:xfrm>
            <a:off x="2110987" y="3444323"/>
            <a:ext cx="433839" cy="34039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1" name="Google Shape;541;p76"/>
          <p:cNvPicPr preferRelativeResize="0"/>
          <p:nvPr/>
        </p:nvPicPr>
        <p:blipFill rotWithShape="1">
          <a:blip r:embed="rId4">
            <a:alphaModFix/>
          </a:blip>
          <a:srcRect b="0" l="0" r="0" t="21550"/>
          <a:stretch/>
        </p:blipFill>
        <p:spPr>
          <a:xfrm>
            <a:off x="4865676" y="1655658"/>
            <a:ext cx="2846767" cy="2867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7"/>
          <p:cNvSpPr txBox="1"/>
          <p:nvPr>
            <p:ph type="title"/>
          </p:nvPr>
        </p:nvSpPr>
        <p:spPr>
          <a:xfrm>
            <a:off x="1285900" y="458225"/>
            <a:ext cx="47367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lang="pt-BR"/>
              <a:t>Erros Comuns</a:t>
            </a:r>
            <a:endParaRPr/>
          </a:p>
        </p:txBody>
      </p:sp>
      <p:sp>
        <p:nvSpPr>
          <p:cNvPr id="547" name="Google Shape;547;p77"/>
          <p:cNvSpPr txBox="1"/>
          <p:nvPr>
            <p:ph idx="1" type="subTitle"/>
          </p:nvPr>
        </p:nvSpPr>
        <p:spPr>
          <a:xfrm>
            <a:off x="1285900" y="2963125"/>
            <a:ext cx="3961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8"/>
          <p:cNvSpPr txBox="1"/>
          <p:nvPr>
            <p:ph type="title"/>
          </p:nvPr>
        </p:nvSpPr>
        <p:spPr>
          <a:xfrm>
            <a:off x="1285900" y="458225"/>
            <a:ext cx="47367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lang="pt-BR"/>
              <a:t>Nosso Presente</a:t>
            </a:r>
            <a:br>
              <a:rPr lang="pt-BR"/>
            </a:br>
            <a:r>
              <a:rPr lang="pt-BR"/>
              <a:t>e Futuro</a:t>
            </a:r>
            <a:endParaRPr/>
          </a:p>
        </p:txBody>
      </p:sp>
      <p:sp>
        <p:nvSpPr>
          <p:cNvPr id="553" name="Google Shape;553;p78"/>
          <p:cNvSpPr txBox="1"/>
          <p:nvPr>
            <p:ph idx="1" type="subTitle"/>
          </p:nvPr>
        </p:nvSpPr>
        <p:spPr>
          <a:xfrm>
            <a:off x="1285900" y="2963125"/>
            <a:ext cx="3961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9"/>
          <p:cNvSpPr txBox="1"/>
          <p:nvPr>
            <p:ph type="title"/>
          </p:nvPr>
        </p:nvSpPr>
        <p:spPr>
          <a:xfrm>
            <a:off x="1463465" y="-502571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Nosso Presente</a:t>
            </a:r>
            <a:endParaRPr sz="1800">
              <a:solidFill>
                <a:srgbClr val="373334"/>
              </a:solidFill>
            </a:endParaRPr>
          </a:p>
        </p:txBody>
      </p:sp>
      <p:pic>
        <p:nvPicPr>
          <p:cNvPr id="559" name="Google Shape;559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0379" y="1363435"/>
            <a:ext cx="4380491" cy="3179771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79"/>
          <p:cNvSpPr txBox="1"/>
          <p:nvPr/>
        </p:nvSpPr>
        <p:spPr>
          <a:xfrm>
            <a:off x="2680378" y="4543206"/>
            <a:ext cx="557016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4D4D4D"/>
                </a:solidFill>
                <a:latin typeface="Play"/>
                <a:ea typeface="Play"/>
                <a:cs typeface="Play"/>
                <a:sym typeface="Play"/>
              </a:rPr>
              <a:t>29/11/2023 às 18:00 https://www.cnnbrasil.com.br/nacional/lei-elaborada-pelo-chatgpt-e-sancionada-em-porto-alegre/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0"/>
          <p:cNvSpPr txBox="1"/>
          <p:nvPr>
            <p:ph type="title"/>
          </p:nvPr>
        </p:nvSpPr>
        <p:spPr>
          <a:xfrm>
            <a:off x="1463465" y="-502571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Nosso Presente</a:t>
            </a:r>
            <a:endParaRPr sz="1800">
              <a:solidFill>
                <a:srgbClr val="373334"/>
              </a:solidFill>
            </a:endParaRPr>
          </a:p>
        </p:txBody>
      </p:sp>
      <p:pic>
        <p:nvPicPr>
          <p:cNvPr id="566" name="Google Shape;56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8842" y="1235813"/>
            <a:ext cx="4399364" cy="3028188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80"/>
          <p:cNvSpPr txBox="1"/>
          <p:nvPr/>
        </p:nvSpPr>
        <p:spPr>
          <a:xfrm>
            <a:off x="2341841" y="4264001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https://canaltech.com.br/inteligencia-artificial/modelo-criada-por-ia-ganha-ate-r-50-mil-por-mes-na-espanha-271089/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81"/>
          <p:cNvSpPr txBox="1"/>
          <p:nvPr>
            <p:ph type="title"/>
          </p:nvPr>
        </p:nvSpPr>
        <p:spPr>
          <a:xfrm>
            <a:off x="1463465" y="-502571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Nosso Presente</a:t>
            </a:r>
            <a:endParaRPr sz="1800">
              <a:solidFill>
                <a:srgbClr val="373334"/>
              </a:solidFill>
            </a:endParaRPr>
          </a:p>
        </p:txBody>
      </p:sp>
      <p:pic>
        <p:nvPicPr>
          <p:cNvPr id="573" name="Google Shape;57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981" y="1082629"/>
            <a:ext cx="4725564" cy="3964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2"/>
          <p:cNvSpPr txBox="1"/>
          <p:nvPr>
            <p:ph type="title"/>
          </p:nvPr>
        </p:nvSpPr>
        <p:spPr>
          <a:xfrm>
            <a:off x="1477425" y="0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Nosso Futuro</a:t>
            </a:r>
            <a:endParaRPr sz="1800">
              <a:solidFill>
                <a:srgbClr val="373334"/>
              </a:solidFill>
            </a:endParaRPr>
          </a:p>
        </p:txBody>
      </p:sp>
      <p:sp>
        <p:nvSpPr>
          <p:cNvPr id="579" name="Google Shape;579;p82"/>
          <p:cNvSpPr txBox="1"/>
          <p:nvPr/>
        </p:nvSpPr>
        <p:spPr>
          <a:xfrm>
            <a:off x="2809511" y="4359251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https://futurism.com/the-byte/experts-90-online-content-ai-generated</a:t>
            </a:r>
            <a:endParaRPr/>
          </a:p>
        </p:txBody>
      </p:sp>
      <p:pic>
        <p:nvPicPr>
          <p:cNvPr id="580" name="Google Shape;58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9733" y="1585200"/>
            <a:ext cx="3691555" cy="263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3"/>
          <p:cNvSpPr txBox="1"/>
          <p:nvPr>
            <p:ph type="title"/>
          </p:nvPr>
        </p:nvSpPr>
        <p:spPr>
          <a:xfrm>
            <a:off x="1477425" y="0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Nosso Futuro</a:t>
            </a:r>
            <a:endParaRPr sz="1800">
              <a:solidFill>
                <a:srgbClr val="373334"/>
              </a:solidFill>
            </a:endParaRPr>
          </a:p>
        </p:txBody>
      </p:sp>
      <p:pic>
        <p:nvPicPr>
          <p:cNvPr id="586" name="Google Shape;58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780" y="1838266"/>
            <a:ext cx="4523054" cy="532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1674" y="2471390"/>
            <a:ext cx="4637575" cy="1973552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83"/>
          <p:cNvSpPr txBox="1"/>
          <p:nvPr/>
        </p:nvSpPr>
        <p:spPr>
          <a:xfrm>
            <a:off x="2674462" y="4545302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https://olhardigital.com.br/2023/03/29/pro/boom-da-ia-coloca-300-milhoes-de-empregos-em-risco-entenda/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4"/>
          <p:cNvSpPr txBox="1"/>
          <p:nvPr>
            <p:ph type="title"/>
          </p:nvPr>
        </p:nvSpPr>
        <p:spPr>
          <a:xfrm>
            <a:off x="1477425" y="0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Nosso Futuro</a:t>
            </a:r>
            <a:endParaRPr sz="1800">
              <a:solidFill>
                <a:srgbClr val="373334"/>
              </a:solidFill>
            </a:endParaRPr>
          </a:p>
        </p:txBody>
      </p:sp>
      <p:pic>
        <p:nvPicPr>
          <p:cNvPr id="594" name="Google Shape;594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946" y="1585200"/>
            <a:ext cx="4509549" cy="1134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9970" y="2829929"/>
            <a:ext cx="2857500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84"/>
          <p:cNvSpPr txBox="1"/>
          <p:nvPr/>
        </p:nvSpPr>
        <p:spPr>
          <a:xfrm>
            <a:off x="1750434" y="4209871"/>
            <a:ext cx="245953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https://www.showmetech.com.br/empregos-criados-inteligencias-artificiais/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5"/>
          <p:cNvSpPr txBox="1"/>
          <p:nvPr>
            <p:ph type="title"/>
          </p:nvPr>
        </p:nvSpPr>
        <p:spPr>
          <a:xfrm>
            <a:off x="1437378" y="-574003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Nosso Futuro</a:t>
            </a:r>
            <a:endParaRPr sz="1800">
              <a:solidFill>
                <a:srgbClr val="373334"/>
              </a:solidFill>
            </a:endParaRPr>
          </a:p>
        </p:txBody>
      </p:sp>
      <p:pic>
        <p:nvPicPr>
          <p:cNvPr id="602" name="Google Shape;60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223" y="1034828"/>
            <a:ext cx="5585553" cy="3807758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85"/>
          <p:cNvSpPr txBox="1"/>
          <p:nvPr/>
        </p:nvSpPr>
        <p:spPr>
          <a:xfrm>
            <a:off x="7061571" y="3673035"/>
            <a:ext cx="217253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https://andrelug.com/chatgpt-bate-medicos-em-responder-a-perguntas-medicas-on-line-segundo-estudo/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6"/>
          <p:cNvSpPr txBox="1"/>
          <p:nvPr>
            <p:ph type="title"/>
          </p:nvPr>
        </p:nvSpPr>
        <p:spPr>
          <a:xfrm>
            <a:off x="1437378" y="-574003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Nosso Futuro</a:t>
            </a:r>
            <a:endParaRPr sz="1800">
              <a:solidFill>
                <a:srgbClr val="373334"/>
              </a:solidFill>
            </a:endParaRPr>
          </a:p>
        </p:txBody>
      </p:sp>
      <p:pic>
        <p:nvPicPr>
          <p:cNvPr id="609" name="Google Shape;60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2900" y="1096522"/>
            <a:ext cx="6750236" cy="122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2900" y="2317475"/>
            <a:ext cx="6007880" cy="1640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86"/>
          <p:cNvSpPr txBox="1"/>
          <p:nvPr/>
        </p:nvSpPr>
        <p:spPr>
          <a:xfrm>
            <a:off x="2742018" y="4210273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https://olhardigital.com.br/2023/03/16/pro/gpt-4-surpreende-em-exame-de-advogados-nos-eua/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7"/>
          <p:cNvSpPr txBox="1"/>
          <p:nvPr>
            <p:ph type="title"/>
          </p:nvPr>
        </p:nvSpPr>
        <p:spPr>
          <a:xfrm>
            <a:off x="1437378" y="-574003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Nosso Futuro</a:t>
            </a:r>
            <a:endParaRPr sz="1800">
              <a:solidFill>
                <a:srgbClr val="373334"/>
              </a:solidFill>
            </a:endParaRPr>
          </a:p>
        </p:txBody>
      </p:sp>
      <p:pic>
        <p:nvPicPr>
          <p:cNvPr id="617" name="Google Shape;61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300" y="1217704"/>
            <a:ext cx="586740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ee Vector | A person relaxing at home" id="618" name="Google Shape;618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1985" y="2944923"/>
            <a:ext cx="2943225" cy="196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5699" y="3359981"/>
            <a:ext cx="4158184" cy="878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8"/>
          <p:cNvSpPr txBox="1"/>
          <p:nvPr>
            <p:ph type="title"/>
          </p:nvPr>
        </p:nvSpPr>
        <p:spPr>
          <a:xfrm>
            <a:off x="1285900" y="458225"/>
            <a:ext cx="47367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625" name="Google Shape;625;p88"/>
          <p:cNvSpPr txBox="1"/>
          <p:nvPr>
            <p:ph idx="1" type="subTitle"/>
          </p:nvPr>
        </p:nvSpPr>
        <p:spPr>
          <a:xfrm>
            <a:off x="1285900" y="2963125"/>
            <a:ext cx="3961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9"/>
          <p:cNvSpPr txBox="1"/>
          <p:nvPr>
            <p:ph type="title"/>
          </p:nvPr>
        </p:nvSpPr>
        <p:spPr>
          <a:xfrm>
            <a:off x="1285900" y="946835"/>
            <a:ext cx="47367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6400">
                <a:solidFill>
                  <a:schemeClr val="lt1"/>
                </a:solidFill>
              </a:rPr>
              <a:t>Como continuar relevante?</a:t>
            </a:r>
            <a:endParaRPr sz="6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90"/>
          <p:cNvPicPr preferRelativeResize="0"/>
          <p:nvPr/>
        </p:nvPicPr>
        <p:blipFill rotWithShape="1">
          <a:blip r:embed="rId3">
            <a:alphaModFix/>
          </a:blip>
          <a:srcRect b="17473" l="13106" r="3518" t="15681"/>
          <a:stretch/>
        </p:blipFill>
        <p:spPr>
          <a:xfrm>
            <a:off x="1198475" y="534325"/>
            <a:ext cx="7624521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90"/>
          <p:cNvSpPr txBox="1"/>
          <p:nvPr>
            <p:ph type="ctrTitle"/>
          </p:nvPr>
        </p:nvSpPr>
        <p:spPr>
          <a:xfrm>
            <a:off x="1588377" y="1369170"/>
            <a:ext cx="5960429" cy="1968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br>
              <a:rPr b="1" i="0" lang="pt-BR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Técnico em Desenvolvimento </a:t>
            </a:r>
            <a:br>
              <a:rPr b="1"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Sistemas</a:t>
            </a:r>
            <a:br>
              <a:rPr b="1"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 1: Analisar requisitos e funcionalidades da aplicação</a:t>
            </a:r>
            <a:br>
              <a:rPr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Instrutor: Tarik Ponciano</a:t>
            </a:r>
            <a:endParaRPr sz="2400">
              <a:solidFill>
                <a:srgbClr val="174584"/>
              </a:solidFill>
            </a:endParaRPr>
          </a:p>
        </p:txBody>
      </p:sp>
      <p:pic>
        <p:nvPicPr>
          <p:cNvPr id="637" name="Google Shape;637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8377" y="4333164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3" name="Google Shape;643;p91"/>
          <p:cNvSpPr txBox="1"/>
          <p:nvPr/>
        </p:nvSpPr>
        <p:spPr>
          <a:xfrm>
            <a:off x="1741934" y="1475730"/>
            <a:ext cx="803565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Unidades Curriculares;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Indicadores;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Elementos da competência;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Avaliação;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584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Conteúdo.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 Curricular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9" name="Google Shape;64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7561" y="1315582"/>
            <a:ext cx="5476875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 Curricular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5" name="Google Shape;655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8371" y="1763272"/>
            <a:ext cx="6504093" cy="2368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4"/>
          <p:cNvSpPr txBox="1"/>
          <p:nvPr/>
        </p:nvSpPr>
        <p:spPr>
          <a:xfrm>
            <a:off x="1669926" y="539626"/>
            <a:ext cx="67617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Indicadores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1" name="Google Shape;661;p94"/>
          <p:cNvSpPr txBox="1"/>
          <p:nvPr/>
        </p:nvSpPr>
        <p:spPr>
          <a:xfrm>
            <a:off x="1669926" y="1477370"/>
            <a:ext cx="6841412" cy="2708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os objetivos do projeto, de acordo com as necessidades do cliente e público- alvo.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 técnicas de modelagem de Engenharia de Software, de acordo com as melhores práticas e diagramas utilizados pelo mercado.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Testa hipóteses com o usuário final, conforme análise de requisitos e funcionalidades da aplicação já mapeadas.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Elementos da competência - conhecimentos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" name="Google Shape;667;p95"/>
          <p:cNvSpPr txBox="1"/>
          <p:nvPr/>
        </p:nvSpPr>
        <p:spPr>
          <a:xfrm>
            <a:off x="1669925" y="1322598"/>
            <a:ext cx="6420921" cy="3693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Briefing: conceito, especificidades para projetos e modelos.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Projetos web e desktop: escopo, tendências e tecnologias.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Funcionalidades: conceitos de requisitos funcionais e não-funcionais.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Requisitos: conceitos e técnicas para análise e gerenciamento.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Modelagem da aplicação: conceito e construção de diagramas de caso de uso e diagramas de classe.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Arquitetura da informação: conceito e aplicações, mapa do site e estruturas de navegação, organização de conteúdo, prototipação.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Elementos da competência - habilidades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96"/>
          <p:cNvSpPr txBox="1"/>
          <p:nvPr/>
        </p:nvSpPr>
        <p:spPr>
          <a:xfrm>
            <a:off x="1669925" y="1297159"/>
            <a:ext cx="8035654" cy="34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Interpretar briefing.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Identificar requisitos técnicos para aplicações.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Organizar arquivos e atividades por etapas do projeto.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Organizar materiais, instrumentos, documentos e local de trabalho.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Comunicar-se de maneira assertiva.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Utilizar termos técnicos nas rotinas de trabalho.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Interpretar diagramas.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7"/>
          <p:cNvSpPr txBox="1"/>
          <p:nvPr/>
        </p:nvSpPr>
        <p:spPr>
          <a:xfrm>
            <a:off x="1669925" y="539626"/>
            <a:ext cx="65837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Elementos da competência – Atitudes/valores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9" name="Google Shape;679;p97"/>
          <p:cNvSpPr txBox="1"/>
          <p:nvPr/>
        </p:nvSpPr>
        <p:spPr>
          <a:xfrm>
            <a:off x="1669925" y="1346673"/>
            <a:ext cx="6661202" cy="370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Responsabilidade e comprometimento com os acordos estabelecidos.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Proatividade no desenvolvimento das atividades profissionais.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Colaboração no desenvolvimento do trabalho em equipe.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Respeito aos direitos de propriedade intelectual.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Comprometimento com padrões de usabilidade e acessibilidade.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Avaliação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98"/>
          <p:cNvSpPr txBox="1"/>
          <p:nvPr/>
        </p:nvSpPr>
        <p:spPr>
          <a:xfrm>
            <a:off x="1669925" y="1223741"/>
            <a:ext cx="8035654" cy="4370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Durante o processo: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indicador de Competência </a:t>
            </a:r>
            <a:endParaRPr/>
          </a:p>
          <a:p>
            <a:pPr indent="0" lvl="4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4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Atendido – A</a:t>
            </a:r>
            <a:endParaRPr/>
          </a:p>
          <a:p>
            <a:pPr indent="0" lvl="4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Parcialmente Atendido – PA</a:t>
            </a:r>
            <a:endParaRPr/>
          </a:p>
          <a:p>
            <a:pPr indent="0" lvl="4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Não Atendido - NA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unidade Currícular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Atendido – A</a:t>
            </a:r>
            <a:endParaRPr/>
          </a:p>
          <a:p>
            <a:pPr indent="0" lvl="2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Não Atendido - NA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Avaliação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1" name="Google Shape;691;p99"/>
          <p:cNvSpPr txBox="1"/>
          <p:nvPr/>
        </p:nvSpPr>
        <p:spPr>
          <a:xfrm>
            <a:off x="1669925" y="1223741"/>
            <a:ext cx="8035654" cy="2769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final do processo: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Unidade Currícular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Desenvolvido – D</a:t>
            </a:r>
            <a:endParaRPr/>
          </a:p>
          <a:p>
            <a:pPr indent="0" lvl="2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Não Desenvolvido - ND</a:t>
            </a:r>
            <a:endParaRPr/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0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Bibliografia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100"/>
          <p:cNvSpPr txBox="1"/>
          <p:nvPr/>
        </p:nvSpPr>
        <p:spPr>
          <a:xfrm>
            <a:off x="1669925" y="1223741"/>
            <a:ext cx="6803515" cy="1908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OBERLEITNER, Allen; SILVA, Luís Carlos de Souza. Desenvolvimento de sistemas. 1. ed. São Paulo: Senac São Paulo, 2020. 290 p. v. 1. E-book (290 p.). (Biblioteca Digital)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MACHADO, Felipe Nery Rodrigues. Análise e Gestão de Requisitos de Software – Onde nascem os sistemas. 1. ed. São Paulo: Saraiva, 2018. 290 p. v. 1.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0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Bibliografia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101"/>
          <p:cNvSpPr txBox="1"/>
          <p:nvPr/>
        </p:nvSpPr>
        <p:spPr>
          <a:xfrm>
            <a:off x="4212726" y="1205396"/>
            <a:ext cx="4298814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vro - Engenharia de Software - Sommerville" id="704" name="Google Shape;70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6590" y="1001291"/>
            <a:ext cx="3985260" cy="3985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0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Bibliografia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102"/>
          <p:cNvSpPr txBox="1"/>
          <p:nvPr/>
        </p:nvSpPr>
        <p:spPr>
          <a:xfrm>
            <a:off x="4212726" y="1205396"/>
            <a:ext cx="4298814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ngenharia de Software: Uma Abordagem Profissional | Amazon.com.br" id="711" name="Google Shape;711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7029" y="1001291"/>
            <a:ext cx="3129675" cy="4069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0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Bibliografia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103"/>
          <p:cNvSpPr txBox="1"/>
          <p:nvPr/>
        </p:nvSpPr>
        <p:spPr>
          <a:xfrm>
            <a:off x="1669925" y="1223741"/>
            <a:ext cx="6803515" cy="1908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OBERLEITNER, Allen; SILVA, Luís Carlos de Souza. Desenvolvimento de sistemas. 1. ed. São Paulo: Senac São Paulo, 2020. 290 p. v. 1. E-book (290 p.). (Biblioteca Digital)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MACHADO, Felipe Nery Rodrigues. Análise e Gestão de Requisitos de Software – Onde nascem os sistemas. 1. ed. São Paulo: Saraiva, 2018. 290 p. v. 1.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04"/>
          <p:cNvSpPr txBox="1"/>
          <p:nvPr>
            <p:ph type="ctrTitle"/>
          </p:nvPr>
        </p:nvSpPr>
        <p:spPr>
          <a:xfrm>
            <a:off x="2106771" y="1852628"/>
            <a:ext cx="61350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6400">
                <a:solidFill>
                  <a:srgbClr val="252525"/>
                </a:solidFill>
              </a:rPr>
              <a:t>Obrigado!!</a:t>
            </a:r>
            <a:endParaRPr sz="6400">
              <a:solidFill>
                <a:srgbClr val="174584"/>
              </a:solidFill>
            </a:endParaRPr>
          </a:p>
        </p:txBody>
      </p:sp>
      <p:pic>
        <p:nvPicPr>
          <p:cNvPr id="723" name="Google Shape;72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6160" y="3780429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Blu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Doraneide Albuquerque Fernandes</dc:creator>
</cp:coreProperties>
</file>